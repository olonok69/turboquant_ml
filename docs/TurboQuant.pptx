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79" r:id="rId30"/>
    <p:sldId id="258" r:id="rId4"/>
    <p:sldId id="259" r:id="rId5"/>
    <p:sldId id="260" r:id="rId6"/>
    <p:sldId id="261" r:id="rId7"/>
    <p:sldId id="262" r:id="rId8"/>
    <p:sldId id="280" r:id="rId31"/>
    <p:sldId id="281" r:id="rId32"/>
    <p:sldId id="282" r:id="rId33"/>
    <p:sldId id="263" r:id="rId9"/>
    <p:sldId id="264" r:id="rId10"/>
    <p:sldId id="265" r:id="rId11"/>
    <p:sldId id="266" r:id="rId12"/>
    <p:sldId id="272" r:id="rId18"/>
    <p:sldId id="267" r:id="rId13"/>
    <p:sldId id="268" r:id="rId14"/>
    <p:sldId id="269" r:id="rId15"/>
    <p:sldId id="270" r:id="rId16"/>
    <p:sldId id="274" r:id="rId25"/>
    <p:sldId id="275" r:id="rId26"/>
    <p:sldId id="276" r:id="rId27"/>
    <p:sldId id="277" r:id="rId28"/>
    <p:sldId id="271" r:id="rId17"/>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6.xml"/><Relationship Id="rId18" Type="http://schemas.openxmlformats.org/officeDocument/2006/relationships/slide" Target="slides/slide17.xml"/><Relationship Id="rId19" Type="http://schemas.openxmlformats.org/officeDocument/2006/relationships/slide" Target="slides/slide27.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xml"/><Relationship Id="rId30" Type="http://schemas.openxmlformats.org/officeDocument/2006/relationships/slide" Target="slides/slide4.xml"/><Relationship Id="rId31" Type="http://schemas.openxmlformats.org/officeDocument/2006/relationships/slide" Target="slides/slide10.xml"/><Relationship Id="rId32" Type="http://schemas.openxmlformats.org/officeDocument/2006/relationships/slide" Target="slides/slide11.xml"/><Relationship Id="rId33"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 About the scores: the LongBench number is an average quality score out of 100 across tasks, each with its own metric, so it is not a percentage of correct answers. The needle number is a recall score from 0 to 1 averaged over all document lengths and needle depths.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cases and the demos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what goes wrong with classic quantization, here is how it works, on eight numbers. Step one: find the range of the block, the smallest and the largest number. Step two: with 2 bits we can name four allowed values, so we spread four values evenly over that range. Step three: every number is replaced by the 2-bit code of the nearest allowed value; that rounding is the only place we lose information. Step four: we store the codes, plus the minimum and the step so we can decode. Reading back is just minimum plus code times step, and the bottom row shows the error each number picks up. Two things to notice. First, the range has to be stored for every block, and that is the hidden tax on the next slide. Second, the two extreme numbers set the range, so five of the eight numbers share only two values. TurboQuant keeps the rounding and the storing, but replaces the first two steps: it rotates the vector first so nothing sticks out, and uses one fixed set of values for every vector, so there is no range to store.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QJL example on four numbers, the same key we will reuse for PolarQuant and TurboQuant. The key's norm is 5.41 and is stored as one float. We multiply the key by a random Gaussian matrix S, three rows here, which is never stored because it is regenerated from a seed. The projections are 3.85, minus 2.15 and minus 2.85, and we keep only their signs: three bits, 1 0 0. When the query 1, minus 1, 1, 0 arrives, its exact score with the key is 9. We project the query with the same S but do not quantize it, flip its projections by the stored signs and add them up: 3.0. Scaling by root pi over 2, divided by m, times the norm gives 6.78. That is one draw; the estimator is unbiased, so averaged over 2,000 draws of S it gives 9.07, and the spread falls like one over root m, from 4.4 at three bits to 0.24 at 1,024. Real heads use as many bits as the head dimension or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vector, now through PolarQuant. Assume it has already been randomly rotated. Level one pairs the coordinates: 3 and minus 4 become a radius of 5 and an angle of 306.9 degrees; 2 and 0.5 become a radius of 2.06 and an angle of 14 degrees. Level two pairs the two radii: the radius is 5.41, the norm of the whole vector, and the angle is 22.4 degrees, always between 0 and 90 because radii are non-negative. First-level angles are uniform, so they get 4 bits and 16 equal buckets. Higher-level angles concentrate around 45 degrees, so their 2-bit centroids come from k-means on the known density: 17.7, 36.3, 53.7 and 72.3 degrees. We store 10 bits of angles plus the norm. Decoding runs the tree top-down with cosines and sines and gives 2.86, minus 4.28, 1.62, 0.32: a 9.7 percent error, and a score of 8.76 against 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of TurboQuant on the same four numbers, at 3 bits per coordinate: 2 bits for the MSE stage and 1 bit for QJL. Store the norm, 5.41, and work on the direction. Rotate: to keep the arithmetic on a slide we use a Hadamard matrix with random signs, a fast random rotation; the reference code uses a dense one. The coordinates change to 4.25, 0.75, 2.75 and minus 1.75, but the length does not. Divide by the norm and round each coordinate with the fixed Lloyd-Max codebook for d equals 4, plus or minus 0.219 and 0.674: 8 bits of codes. Decoding rotates the centroids back: 3.65, minus 3.65, 1.19, 1.19, and the score with our query drops to 8.48, the shrinkage bias. Stage two takes the residual, norm 1.29, and stores the signs of a 4 by 4 Gaussian projection of it: 1 1 0 0. At query time the correction is root pi over 2, over 4, times 1.29, times 0.8, which is 0.32, so the estimate is 8.81 against 9. Over 20,000 random rotations the MSE stage alone averages 8.32 and the full estimate 9.00: the QJL bit removes the bias.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txBody>
          <a:bodyPr/>
          <a:p/>
        </p:txBody>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Consolas" pitchFamily="49" charset="0"/>
                <a:ea typeface="Consolas" pitchFamily="49" charset="-122"/>
                <a:cs typeface="Consolas"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THE KV CACHE</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13"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QUANTIZATION</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Quantization: round, store a short code, read it back</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TurboQuant keeps steps 3 and 4 and replaces 1 and 2: rotate first, then use one fixed set of values, so no range is stored.</a:t>
            </a:r>
            <a:endParaRPr lang="en-US" sz="1200" dirty="0"/>
          </a:p>
        </p:txBody>
      </p:sp>
      <p:pic>
        <p:nvPicPr>
          <p:cNvPr id="13" name="Picture 12" descr="slide_quant.png"/>
          <p:cNvPicPr>
            <a:picLocks noChangeAspect="1"/>
          </p:cNvPicPr>
          <p:nvPr/>
        </p:nvPicPr>
        <p:blipFill>
          <a:blip r:embed="rId2"/>
          <a:stretch>
            <a:fillRect/>
          </a:stretch>
        </p:blipFill>
        <p:spPr>
          <a:xfrm>
            <a:off x="1330043" y="1900000"/>
            <a:ext cx="9531914" cy="448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txBody>
          <a:bodyPr/>
          <a:p/>
        </p:txBody>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txBody>
          <a:bodyPr/>
          <a:p/>
        </p:txBody>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Consolas" pitchFamily="49" charset="0"/>
                <a:ea typeface="Consolas" pitchFamily="49" charset="-122"/>
                <a:cs typeface="Consolas"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txBody>
          <a:bodyPr/>
          <a:p/>
        </p:txBody>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txBody>
          <a:bodyPr/>
          <a:p/>
        </p:txBody>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idx = Q_mse(x) with b−1 bits</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r = x − Q_mse⁻¹(idx)</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txBody>
          <a:bodyPr/>
          <a:p/>
        </p:txBody>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txBody>
          <a:bodyPr/>
          <a:p/>
        </p:txBody>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QJL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QJL by hand: 4 numbers become 3 sign bits and a norm</a:t>
            </a:r>
            <a:endParaRPr lang="en-US" sz="3200" dirty="0"/>
          </a:p>
        </p:txBody>
      </p:sp>
      <p:sp>
        <p:nvSpPr>
          <p:cNvPr id="5" name="Shape 5"/>
          <p:cNvSpPr/>
          <p:nvPr/>
        </p:nvSpPr>
        <p:spPr>
          <a:xfrm>
            <a:off x="812800"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6" name="Text 6"/>
          <p:cNvSpPr/>
          <p:nvPr/>
        </p:nvSpPr>
        <p:spPr>
          <a:xfrm>
            <a:off x="1002800"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1 · Key and norm</a:t>
            </a:r>
            <a:endParaRPr lang="en-US" sz="150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k = [3, −4, 2,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‖k‖ = √(9 + 16 + 4 + 0.25)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     = √29.25 = </a:t>
            </a:r>
            <a:r>
              <a:rPr lang="en-US" sz="1250" b="1" dirty="0">
                <a:solidFill>
                  <a:srgbClr val="0F1B2D"/>
                </a:solidFill>
                <a:latin typeface="IBM Plex Sans" pitchFamily="34" charset="0"/>
                <a:ea typeface="IBM Plex Sans" pitchFamily="34" charset="-122"/>
                <a:cs typeface="IBM Plex Sans" pitchFamily="34" charset="-120"/>
              </a:rPr>
              <a:t>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one float.</a:t>
            </a:r>
            <a:endParaRPr lang="en-US" sz="1250" dirty="0"/>
          </a:p>
        </p:txBody>
      </p:sp>
      <p:sp>
        <p:nvSpPr>
          <p:cNvPr id="7" name="Shape 7"/>
          <p:cNvSpPr/>
          <p:nvPr/>
        </p:nvSpPr>
        <p:spPr>
          <a:xfrm>
            <a:off x="3578648"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3768648"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2 · Project with 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 3 × 4 Gaussian, rebuilt from a seed</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0.5 −0.2  0.8 −0.1</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−0.9  0.1  0.3  0.7</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0.2  0.6 −0.4 −0.5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S·k = [3.85, −2.15, −2.85]</a:t>
            </a:r>
            <a:endParaRPr lang="en-US" sz="1250" dirty="0"/>
          </a:p>
        </p:txBody>
      </p:sp>
      <p:sp>
        <p:nvSpPr>
          <p:cNvPr id="9" name="Shape 9"/>
          <p:cNvSpPr/>
          <p:nvPr/>
        </p:nvSpPr>
        <p:spPr>
          <a:xfrm>
            <a:off x="6344496"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6534496"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3 · Keep the signs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sign(S·k) = [+1, −1, −1]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the bits </a:t>
            </a:r>
            <a:r>
              <a:rPr lang="en-US" sz="1250" dirty="0">
                <a:solidFill>
                  <a:srgbClr val="0F1B2D"/>
                </a:solidFill>
                <a:latin typeface="Consolas" pitchFamily="49" charset="0"/>
                <a:ea typeface="Consolas" pitchFamily="49" charset="-122"/>
                <a:cs typeface="Consolas" pitchFamily="49" charset="-120"/>
              </a:rPr>
              <a:t>100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In memory: 3 bits + 5.41.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The four original floats are dropped.</a:t>
            </a:r>
            <a:endParaRPr lang="en-US" sz="1250" dirty="0"/>
          </a:p>
        </p:txBody>
      </p:sp>
      <p:sp>
        <p:nvSpPr>
          <p:cNvPr id="11" name="Shape 11"/>
          <p:cNvSpPr/>
          <p:nvPr/>
        </p:nvSpPr>
        <p:spPr>
          <a:xfrm>
            <a:off x="9110344" y="2150000"/>
            <a:ext cx="2585848" cy="2500000"/>
          </a:xfrm>
          <a:prstGeom prst="roundRect">
            <a:avLst>
              <a:gd name="adj" fmla="val 6060"/>
            </a:avLst>
          </a:prstGeom>
          <a:solidFill>
            <a:srgbClr val="0F1B2D"/>
          </a:solidFill>
          <a:ln/>
        </p:spPr>
        <p:txBody>
          <a:bodyPr/>
          <a:p/>
        </p:txBody>
      </p:sp>
      <p:sp>
        <p:nvSpPr>
          <p:cNvPr id="12" name="Text 12"/>
          <p:cNvSpPr/>
          <p:nvPr/>
        </p:nvSpPr>
        <p:spPr>
          <a:xfrm>
            <a:off x="9300344" y="2340000"/>
            <a:ext cx="2205848" cy="2120000"/>
          </a:xfrm>
          <a:prstGeom prst="rect">
            <a:avLst/>
          </a:prstGeom>
          <a:noFill/>
          <a:ln/>
        </p:spPr>
        <p:txBody>
          <a:bodyPr wrap="square" lIns="0" tIns="0" rIns="0" bIns="0" rtlCol="0" anchor="t">
            <a:no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4 · Score a query</a:t>
            </a:r>
            <a:endParaRPr lang="en-US" sz="150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 [1, −1, 1, 0]</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k⟩ = 1·3 + (−1)(−4)</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          + 1·2 + 0·0.5 = 9</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 [1.5, −0.7, −0.8]</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sign⟩ = 1.5 + 0.7 + 0.8</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√(π/2)/3 · 5.41 · 3.0 =</a:t>
            </a:r>
            <a:endParaRPr lang="en-US" sz="125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6.78</a:t>
            </a:r>
            <a:r>
              <a:rPr lang="en-US" sz="1250" dirty="0">
                <a:solidFill>
                  <a:srgbClr val="D9DEE6"/>
                </a:solidFill>
                <a:latin typeface="IBM Plex Sans" pitchFamily="34" charset="0"/>
                <a:ea typeface="IBM Plex Sans" pitchFamily="34" charset="-122"/>
                <a:cs typeface="IBM Plex Sans" pitchFamily="34" charset="-120"/>
              </a:rPr>
              <a:t>  vs exact 9</a:t>
            </a:r>
            <a:endParaRPr lang="en-US" sz="2800" dirty="0"/>
          </a:p>
        </p:txBody>
      </p:sp>
      <p:sp>
        <p:nvSpPr>
          <p:cNvPr id="13" name="Text 13"/>
          <p:cNvSpPr/>
          <p:nvPr/>
        </p:nvSpPr>
        <p:spPr>
          <a:xfrm>
            <a:off x="812800"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Unbiased, not exact.</a:t>
            </a:r>
            <a:r>
              <a:rPr lang="en-US" sz="1500" dirty="0">
                <a:solidFill>
                  <a:srgbClr val="3A4556"/>
                </a:solidFill>
                <a:latin typeface="IBM Plex Sans" pitchFamily="34" charset="0"/>
                <a:ea typeface="IBM Plex Sans" pitchFamily="34" charset="-122"/>
                <a:cs typeface="IBM Plex Sans" pitchFamily="34" charset="-120"/>
              </a:rPr>
              <a:t> Over 2,000 draws of S the estimate averages 9.07. Its spread is 4.4 with 3 bits, 0.91 with 64 and 0.24 with 1,024: it shrinks like 1/√m.</a:t>
            </a:r>
            <a:endParaRPr lang="en-US" sz="1500" dirty="0"/>
          </a:p>
        </p:txBody>
      </p:sp>
      <p:sp>
        <p:nvSpPr>
          <p:cNvPr id="14" name="Text 14"/>
          <p:cNvSpPr/>
          <p:nvPr/>
        </p:nvSpPr>
        <p:spPr>
          <a:xfrm>
            <a:off x="6434496"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√(π/2).</a:t>
            </a:r>
            <a:r>
              <a:rPr lang="en-US" sz="1500" dirty="0">
                <a:solidFill>
                  <a:srgbClr val="3A4556"/>
                </a:solidFill>
                <a:latin typeface="IBM Plex Sans" pitchFamily="34" charset="0"/>
                <a:ea typeface="IBM Plex Sans" pitchFamily="34" charset="-122"/>
                <a:cs typeface="IBM Plex Sans" pitchFamily="34" charset="-120"/>
              </a:rPr>
              <a:t> Keeping signs shrinks the average by √(2/π)/‖k‖. The norm and √(π/2) undo it. The query stays full precision, so there is no XOR or popcount.</a:t>
            </a:r>
            <a:endParaRPr lang="en-US" sz="1500" dirty="0"/>
          </a:p>
        </p:txBody>
      </p:sp>
      <p:sp>
        <p:nvSpPr>
          <p:cNvPr id="15"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4.1 of the guide. Every number is reproduced by docs/guide/worked_examples.py.</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POLARQUANT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PolarQuant by hand: pairs become radii and angles</a:t>
            </a:r>
            <a:endParaRPr lang="en-US" sz="3200" dirty="0"/>
          </a:p>
        </p:txBody>
      </p:sp>
      <p:sp>
        <p:nvSpPr>
          <p:cNvPr id="5" name="Shape 5"/>
          <p:cNvSpPr/>
          <p:nvPr/>
        </p:nvSpPr>
        <p:spPr>
          <a:xfrm>
            <a:off x="812800" y="2150000"/>
            <a:ext cx="5600000" cy="3880000"/>
          </a:xfrm>
          <a:prstGeom prst="roundRect">
            <a:avLst>
              <a:gd name="adj" fmla="val 6060"/>
            </a:avLst>
          </a:prstGeom>
          <a:solidFill>
            <a:srgbClr val="FDFCF9"/>
          </a:solidFill>
          <a:ln w="6350">
            <a:solidFill>
              <a:srgbClr val="E2DFD6"/>
            </a:solidFill>
            <a:prstDash val="solid"/>
          </a:ln>
        </p:spPr>
        <p:txBody>
          <a:bodyPr/>
          <a:p/>
        </p:txBody>
      </p:sp>
      <p:cxnSp>
        <p:nvCxnSpPr>
          <p:cNvPr id="6" name="Line 6"/>
          <p:cNvCxnSpPr/>
          <p:nvPr/>
        </p:nvCxnSpPr>
        <p:spPr>
          <a:xfrm>
            <a:off x="2449050" y="4470000"/>
            <a:ext cx="546250" cy="530000"/>
          </a:xfrm>
          <a:prstGeom prst="line">
            <a:avLst/>
          </a:prstGeom>
          <a:ln w="12700">
            <a:solidFill>
              <a:srgbClr val="B8BCC4"/>
            </a:solidFill>
          </a:ln>
        </p:spPr>
      </p:cxnSp>
      <p:cxnSp>
        <p:nvCxnSpPr>
          <p:cNvPr id="7" name="Line 7"/>
          <p:cNvCxnSpPr/>
          <p:nvPr/>
        </p:nvCxnSpPr>
        <p:spPr>
          <a:xfrm flipH="1">
            <a:off x="2995300" y="4470000"/>
            <a:ext cx="546250" cy="530000"/>
          </a:xfrm>
          <a:prstGeom prst="line">
            <a:avLst/>
          </a:prstGeom>
          <a:ln w="12700">
            <a:solidFill>
              <a:srgbClr val="B8BCC4"/>
            </a:solidFill>
          </a:ln>
        </p:spPr>
      </p:cxnSp>
      <p:cxnSp>
        <p:nvCxnSpPr>
          <p:cNvPr id="8" name="Line 8"/>
          <p:cNvCxnSpPr/>
          <p:nvPr/>
        </p:nvCxnSpPr>
        <p:spPr>
          <a:xfrm>
            <a:off x="4634050" y="4470000"/>
            <a:ext cx="546250" cy="530000"/>
          </a:xfrm>
          <a:prstGeom prst="line">
            <a:avLst/>
          </a:prstGeom>
          <a:ln w="12700">
            <a:solidFill>
              <a:srgbClr val="B8BCC4"/>
            </a:solidFill>
          </a:ln>
        </p:spPr>
      </p:cxnSp>
      <p:cxnSp>
        <p:nvCxnSpPr>
          <p:cNvPr id="9" name="Line 9"/>
          <p:cNvCxnSpPr/>
          <p:nvPr/>
        </p:nvCxnSpPr>
        <p:spPr>
          <a:xfrm flipH="1">
            <a:off x="5180300" y="4470000"/>
            <a:ext cx="546250" cy="530000"/>
          </a:xfrm>
          <a:prstGeom prst="line">
            <a:avLst/>
          </a:prstGeom>
          <a:ln w="12700">
            <a:solidFill>
              <a:srgbClr val="B8BCC4"/>
            </a:solidFill>
          </a:ln>
        </p:spPr>
      </p:cxnSp>
      <p:cxnSp>
        <p:nvCxnSpPr>
          <p:cNvPr id="10" name="Line 10"/>
          <p:cNvCxnSpPr/>
          <p:nvPr/>
        </p:nvCxnSpPr>
        <p:spPr>
          <a:xfrm>
            <a:off x="2995300" y="3240000"/>
            <a:ext cx="1092500" cy="470000"/>
          </a:xfrm>
          <a:prstGeom prst="line">
            <a:avLst/>
          </a:prstGeom>
          <a:ln w="12700">
            <a:solidFill>
              <a:srgbClr val="B8BCC4"/>
            </a:solidFill>
          </a:ln>
        </p:spPr>
      </p:cxnSp>
      <p:cxnSp>
        <p:nvCxnSpPr>
          <p:cNvPr id="11" name="Line 11"/>
          <p:cNvCxnSpPr/>
          <p:nvPr/>
        </p:nvCxnSpPr>
        <p:spPr>
          <a:xfrm flipH="1">
            <a:off x="4087800" y="3240000"/>
            <a:ext cx="1092500" cy="470000"/>
          </a:xfrm>
          <a:prstGeom prst="line">
            <a:avLst/>
          </a:prstGeom>
          <a:ln w="12700">
            <a:solidFill>
              <a:srgbClr val="B8BCC4"/>
            </a:solidFill>
          </a:ln>
        </p:spPr>
      </p:cxnSp>
      <p:sp>
        <p:nvSpPr>
          <p:cNvPr id="12" name="Shape 12"/>
          <p:cNvSpPr/>
          <p:nvPr/>
        </p:nvSpPr>
        <p:spPr>
          <a:xfrm>
            <a:off x="2900425" y="2480000"/>
            <a:ext cx="2374750" cy="760000"/>
          </a:xfrm>
          <a:prstGeom prst="roundRect">
            <a:avLst>
              <a:gd name="adj" fmla="val 12000"/>
            </a:avLst>
          </a:prstGeom>
          <a:solidFill>
            <a:srgbClr val="0F1B2D"/>
          </a:solidFill>
          <a:ln/>
        </p:spPr>
        <p:txBody>
          <a:bodyPr/>
          <a:p/>
        </p:txBody>
      </p:sp>
      <p:sp>
        <p:nvSpPr>
          <p:cNvPr id="13" name="Text 13"/>
          <p:cNvSpPr/>
          <p:nvPr/>
        </p:nvSpPr>
        <p:spPr>
          <a:xfrm>
            <a:off x="2960425" y="2550000"/>
            <a:ext cx="225475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F2A35E"/>
                </a:solidFill>
                <a:latin typeface="IBM Plex Sans" pitchFamily="34" charset="0"/>
                <a:ea typeface="IBM Plex Sans" pitchFamily="34" charset="-122"/>
                <a:cs typeface="IBM Plex Sans" pitchFamily="34" charset="-120"/>
              </a:rPr>
              <a:t>‖v‖ = 5.41</a:t>
            </a:r>
            <a:endParaRPr lang="en-US" sz="1300" dirty="0"/>
          </a:p>
          <a:p>
            <a:pPr algn="ctr" indent="0" marL="0">
              <a:lnSpc>
                <a:spcPts val="1500"/>
              </a:lnSpc>
              <a:buNone/>
            </a:pPr>
            <a:r>
              <a:rPr lang="en-US" sz="1150" dirty="0">
                <a:solidFill>
                  <a:srgbClr val="D9DEE6"/>
                </a:solidFill>
                <a:latin typeface="IBM Plex Sans" pitchFamily="34" charset="0"/>
                <a:ea typeface="IBM Plex Sans" pitchFamily="34" charset="-122"/>
                <a:cs typeface="IBM Plex Sans" pitchFamily="34" charset="-120"/>
              </a:rPr>
              <a:t>ψ = 22.4°  (0 to 90°, 2 bits)</a:t>
            </a:r>
            <a:endParaRPr lang="en-US" sz="1150" dirty="0"/>
          </a:p>
        </p:txBody>
      </p:sp>
      <p:sp>
        <p:nvSpPr>
          <p:cNvPr id="14" name="Shape 14"/>
          <p:cNvSpPr/>
          <p:nvPr/>
        </p:nvSpPr>
        <p:spPr>
          <a:xfrm>
            <a:off x="1962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5" name="Text 15"/>
          <p:cNvSpPr/>
          <p:nvPr/>
        </p:nvSpPr>
        <p:spPr>
          <a:xfrm>
            <a:off x="2022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R_A = 5</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θ₁ = 306.9°  (4 bits)</a:t>
            </a:r>
            <a:endParaRPr lang="en-US" sz="1150" dirty="0"/>
          </a:p>
        </p:txBody>
      </p:sp>
      <p:sp>
        <p:nvSpPr>
          <p:cNvPr id="16" name="Shape 16"/>
          <p:cNvSpPr/>
          <p:nvPr/>
        </p:nvSpPr>
        <p:spPr>
          <a:xfrm>
            <a:off x="4147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7" name="Text 17"/>
          <p:cNvSpPr/>
          <p:nvPr/>
        </p:nvSpPr>
        <p:spPr>
          <a:xfrm>
            <a:off x="4207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R_B = 2.06</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θ₂ = 14.0°  (4 bits)</a:t>
            </a:r>
            <a:endParaRPr lang="en-US" sz="1150" dirty="0"/>
          </a:p>
        </p:txBody>
      </p:sp>
      <p:sp>
        <p:nvSpPr>
          <p:cNvPr id="18" name="Shape 18"/>
          <p:cNvSpPr/>
          <p:nvPr/>
        </p:nvSpPr>
        <p:spPr>
          <a:xfrm>
            <a:off x="1962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19" name="Text 19"/>
          <p:cNvSpPr/>
          <p:nvPr/>
        </p:nvSpPr>
        <p:spPr>
          <a:xfrm>
            <a:off x="2022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x₁ = 3</a:t>
            </a:r>
            <a:endParaRPr lang="en-US" sz="1300" dirty="0"/>
          </a:p>
        </p:txBody>
      </p:sp>
      <p:sp>
        <p:nvSpPr>
          <p:cNvPr id="20" name="Shape 20"/>
          <p:cNvSpPr/>
          <p:nvPr/>
        </p:nvSpPr>
        <p:spPr>
          <a:xfrm>
            <a:off x="3055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1" name="Text 21"/>
          <p:cNvSpPr/>
          <p:nvPr/>
        </p:nvSpPr>
        <p:spPr>
          <a:xfrm>
            <a:off x="3115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x₂ = −4</a:t>
            </a:r>
            <a:endParaRPr lang="en-US" sz="1300" dirty="0"/>
          </a:p>
        </p:txBody>
      </p:sp>
      <p:sp>
        <p:nvSpPr>
          <p:cNvPr id="22" name="Shape 22"/>
          <p:cNvSpPr/>
          <p:nvPr/>
        </p:nvSpPr>
        <p:spPr>
          <a:xfrm>
            <a:off x="4147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3" name="Text 23"/>
          <p:cNvSpPr/>
          <p:nvPr/>
        </p:nvSpPr>
        <p:spPr>
          <a:xfrm>
            <a:off x="4207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x₃ = 2</a:t>
            </a:r>
            <a:endParaRPr lang="en-US" sz="1300" dirty="0"/>
          </a:p>
        </p:txBody>
      </p:sp>
      <p:sp>
        <p:nvSpPr>
          <p:cNvPr id="24" name="Shape 24"/>
          <p:cNvSpPr/>
          <p:nvPr/>
        </p:nvSpPr>
        <p:spPr>
          <a:xfrm>
            <a:off x="5240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5" name="Text 25"/>
          <p:cNvSpPr/>
          <p:nvPr/>
        </p:nvSpPr>
        <p:spPr>
          <a:xfrm>
            <a:off x="5300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x₄ = 0.5</a:t>
            </a:r>
            <a:endParaRPr lang="en-US" sz="1300" dirty="0"/>
          </a:p>
        </p:txBody>
      </p:sp>
      <p:sp>
        <p:nvSpPr>
          <p:cNvPr id="26" name="Text 26"/>
          <p:cNvSpPr/>
          <p:nvPr/>
        </p:nvSpPr>
        <p:spPr>
          <a:xfrm>
            <a:off x="1012800" y="275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2</a:t>
            </a:r>
            <a:endParaRPr lang="en-US" sz="1100" dirty="0"/>
          </a:p>
        </p:txBody>
      </p:sp>
      <p:sp>
        <p:nvSpPr>
          <p:cNvPr id="27" name="Text 27"/>
          <p:cNvSpPr/>
          <p:nvPr/>
        </p:nvSpPr>
        <p:spPr>
          <a:xfrm>
            <a:off x="1012800" y="398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1</a:t>
            </a:r>
            <a:endParaRPr lang="en-US" sz="1100" dirty="0"/>
          </a:p>
        </p:txBody>
      </p:sp>
      <p:sp>
        <p:nvSpPr>
          <p:cNvPr id="28" name="Text 28"/>
          <p:cNvSpPr/>
          <p:nvPr/>
        </p:nvSpPr>
        <p:spPr>
          <a:xfrm>
            <a:off x="1012800" y="520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INPUT</a:t>
            </a:r>
            <a:endParaRPr lang="en-US" sz="1100" dirty="0"/>
          </a:p>
        </p:txBody>
      </p:sp>
      <p:sp>
        <p:nvSpPr>
          <p:cNvPr id="29" name="Text 29"/>
          <p:cNvSpPr/>
          <p:nvPr/>
        </p:nvSpPr>
        <p:spPr>
          <a:xfrm>
            <a:off x="1012800" y="5700000"/>
            <a:ext cx="5200000" cy="220000"/>
          </a:xfrm>
          <a:prstGeom prst="rect">
            <a:avLst/>
          </a:prstGeom>
          <a:noFill/>
          <a:ln/>
        </p:spPr>
        <p:txBody>
          <a:bodyPr wrap="square" lIns="0" tIns="0" rIns="0" bIns="0" rtlCol="0" anchor="t">
            <a:normAutofit/>
          </a:bodyPr>
          <a:lstStyle/>
          <a:p>
            <a:pPr algn="l" indent="0" marL="0">
              <a:lnSpc>
                <a:spcPts val="1500"/>
              </a:lnSpc>
              <a:buNone/>
            </a:pPr>
            <a:r>
              <a:rPr lang="en-US" sz="1150" dirty="0">
                <a:solidFill>
                  <a:srgbClr val="5F6979"/>
                </a:solidFill>
                <a:latin typeface="IBM Plex Sans" pitchFamily="34" charset="0"/>
                <a:ea typeface="IBM Plex Sans" pitchFamily="34" charset="-122"/>
                <a:cs typeface="IBM Plex Sans" pitchFamily="34" charset="-120"/>
              </a:rPr>
              <a:t>v = [3, −4, 2, 0.5], already rotated. Pair, then pair the radii.</a:t>
            </a:r>
            <a:endParaRPr lang="en-US" sz="1150" dirty="0"/>
          </a:p>
        </p:txBody>
      </p:sp>
      <p:sp>
        <p:nvSpPr>
          <p:cNvPr id="30" name="Shape 30"/>
          <p:cNvSpPr/>
          <p:nvPr/>
        </p:nvSpPr>
        <p:spPr>
          <a:xfrm>
            <a:off x="6592800" y="2150000"/>
            <a:ext cx="5103392" cy="1850000"/>
          </a:xfrm>
          <a:prstGeom prst="roundRect">
            <a:avLst>
              <a:gd name="adj" fmla="val 6060"/>
            </a:avLst>
          </a:prstGeom>
          <a:solidFill>
            <a:srgbClr val="FDFCF9"/>
          </a:solidFill>
          <a:ln w="6350">
            <a:solidFill>
              <a:srgbClr val="E2DFD6"/>
            </a:solidFill>
            <a:prstDash val="solid"/>
          </a:ln>
        </p:spPr>
        <p:txBody>
          <a:bodyPr/>
          <a:p/>
        </p:txBody>
      </p:sp>
      <p:sp>
        <p:nvSpPr>
          <p:cNvPr id="31" name="Text 31"/>
          <p:cNvSpPr/>
          <p:nvPr/>
        </p:nvSpPr>
        <p:spPr>
          <a:xfrm>
            <a:off x="6782800" y="234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Quantize the angles</a:t>
            </a:r>
            <a:endParaRPr lang="en-US" sz="150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4 bits</a:t>
            </a:r>
            <a:r>
              <a:rPr lang="en-US" sz="1250" dirty="0">
                <a:solidFill>
                  <a:srgbClr val="3A4556"/>
                </a:solidFill>
                <a:latin typeface="IBM Plex Sans" pitchFamily="34" charset="0"/>
                <a:ea typeface="IBM Plex Sans" pitchFamily="34" charset="-122"/>
                <a:cs typeface="IBM Plex Sans" pitchFamily="34" charset="-120"/>
              </a:rPr>
              <a:t>, 16 buckets of 22.5°: θ₁ → bucket 13 (303.75°), θ₂ → bucket 0 (11.25°).</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2 bits</a:t>
            </a:r>
            <a:r>
              <a:rPr lang="en-US" sz="1250" dirty="0">
                <a:solidFill>
                  <a:srgbClr val="3A4556"/>
                </a:solidFill>
                <a:latin typeface="IBM Plex Sans" pitchFamily="34" charset="0"/>
                <a:ea typeface="IBM Plex Sans" pitchFamily="34" charset="-122"/>
                <a:cs typeface="IBM Plex Sans" pitchFamily="34" charset="-120"/>
              </a:rPr>
              <a:t>, k-means centroids 17.7°, 36.3°, 53.7°, 72.3°: ψ → 17.7° (index 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Stored: 4 + 4 + 2 = 10 bits + one float (5.41).</a:t>
            </a:r>
            <a:endParaRPr lang="en-US" sz="1250" dirty="0"/>
          </a:p>
        </p:txBody>
      </p:sp>
      <p:sp>
        <p:nvSpPr>
          <p:cNvPr id="32" name="Shape 32"/>
          <p:cNvSpPr/>
          <p:nvPr/>
        </p:nvSpPr>
        <p:spPr>
          <a:xfrm>
            <a:off x="6592800" y="4180000"/>
            <a:ext cx="5103392" cy="1850000"/>
          </a:xfrm>
          <a:prstGeom prst="roundRect">
            <a:avLst>
              <a:gd name="adj" fmla="val 6060"/>
            </a:avLst>
          </a:prstGeom>
          <a:solidFill>
            <a:srgbClr val="0F1B2D"/>
          </a:solidFill>
          <a:ln/>
        </p:spPr>
        <p:txBody>
          <a:bodyPr/>
          <a:p/>
        </p:txBody>
      </p:sp>
      <p:sp>
        <p:nvSpPr>
          <p:cNvPr id="33" name="Text 33"/>
          <p:cNvSpPr/>
          <p:nvPr/>
        </p:nvSpPr>
        <p:spPr>
          <a:xfrm>
            <a:off x="6782800" y="437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Decode, top-down</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R_A ≈ 5.41·cos 17.7° = 5.15,  R_B ≈ 5.41·sin 17.7° = 1.65</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v̂ = [2.86, −4.28, 1.62, 0.32]</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9.7% error. Score with q = [1, −1, 1, 0]: </a:t>
            </a:r>
            <a:r>
              <a:rPr lang="en-US" sz="1250" b="1" dirty="0">
                <a:solidFill>
                  <a:srgbClr val="F6F5F0"/>
                </a:solidFill>
                <a:latin typeface="IBM Plex Sans" pitchFamily="34" charset="0"/>
                <a:ea typeface="IBM Plex Sans" pitchFamily="34" charset="-122"/>
                <a:cs typeface="IBM Plex Sans" pitchFamily="34" charset="-120"/>
              </a:rPr>
              <a:t>8.76</a:t>
            </a:r>
            <a:r>
              <a:rPr lang="en-US" sz="1250" dirty="0">
                <a:solidFill>
                  <a:srgbClr val="D9DEE6"/>
                </a:solidFill>
                <a:latin typeface="IBM Plex Sans" pitchFamily="34" charset="0"/>
                <a:ea typeface="IBM Plex Sans" pitchFamily="34" charset="-122"/>
                <a:cs typeface="IBM Plex Sans" pitchFamily="34" charset="-120"/>
              </a:rPr>
              <a:t> vs 9.</a:t>
            </a:r>
            <a:endParaRPr lang="en-US" sz="1250" dirty="0"/>
          </a:p>
        </p:txBody>
      </p:sp>
      <p:sp>
        <p:nvSpPr>
          <p:cNvPr id="34" name="Text 3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4.2 of the guide. In practice: 4 levels, blocks of 16 coordinates, 3.875 bits per coordinate.</a:t>
            </a:r>
            <a:endParaRPr lang="en-US" sz="1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TURBOQUANT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TurboQuant end to end on the same four numbers</a:t>
            </a:r>
            <a:endParaRPr lang="en-US" sz="3200" dirty="0"/>
          </a:p>
        </p:txBody>
      </p:sp>
      <p:sp>
        <p:nvSpPr>
          <p:cNvPr id="5" name="Text 5"/>
          <p:cNvSpPr/>
          <p:nvPr/>
        </p:nvSpPr>
        <p:spPr>
          <a:xfrm>
            <a:off x="812800" y="205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1 · TURBOQUANT_MSE, 2 BITS PER COORDINATE</a:t>
            </a:r>
            <a:endParaRPr lang="en-US" sz="1100" dirty="0"/>
          </a:p>
        </p:txBody>
      </p:sp>
      <p:sp>
        <p:nvSpPr>
          <p:cNvPr id="6" name="Text 6"/>
          <p:cNvSpPr/>
          <p:nvPr/>
        </p:nvSpPr>
        <p:spPr>
          <a:xfrm>
            <a:off x="812800" y="408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2 · 1-BIT QJL ON THE RESIDUAL</a:t>
            </a:r>
            <a:endParaRPr lang="en-US" sz="1100" dirty="0"/>
          </a:p>
        </p:txBody>
      </p:sp>
      <p:sp>
        <p:nvSpPr>
          <p:cNvPr id="7" name="Shape 7"/>
          <p:cNvSpPr/>
          <p:nvPr/>
        </p:nvSpPr>
        <p:spPr>
          <a:xfrm>
            <a:off x="812800"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972800"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1 · Norm</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[3, −4, 2, 0.5]</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a:t>
            </a:r>
            <a:r>
              <a:rPr lang="en-US" sz="1100" b="1" dirty="0">
                <a:solidFill>
                  <a:srgbClr val="0F1B2D"/>
                </a:solidFill>
                <a:latin typeface="IBM Plex Sans" pitchFamily="34" charset="0"/>
                <a:ea typeface="IBM Plex Sans" pitchFamily="34" charset="-122"/>
                <a:cs typeface="IBM Plex Sans" pitchFamily="34" charset="-120"/>
              </a:rPr>
              <a:t>5.41</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Continue with u = v / ‖v‖</a:t>
            </a:r>
            <a:endParaRPr lang="en-US" sz="1100" dirty="0"/>
          </a:p>
        </p:txBody>
      </p:sp>
      <p:sp>
        <p:nvSpPr>
          <p:cNvPr id="9" name="Shape 9"/>
          <p:cNvSpPr/>
          <p:nvPr/>
        </p:nvSpPr>
        <p:spPr>
          <a:xfrm>
            <a:off x="3578648"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3738648"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2 · Rotate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 = ½·Hadamard, random signs</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Π·v = [4.25, 0.75, 2.75, −1.75], same length</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y = Π·v / ‖v‖ = [0.786, 0.139, 0.508, −0.324]</a:t>
            </a:r>
            <a:endParaRPr lang="en-US" sz="1100" dirty="0"/>
          </a:p>
        </p:txBody>
      </p:sp>
      <p:sp>
        <p:nvSpPr>
          <p:cNvPr id="11" name="Shape 11"/>
          <p:cNvSpPr/>
          <p:nvPr/>
        </p:nvSpPr>
        <p:spPr>
          <a:xfrm>
            <a:off x="6344496"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2" name="Text 12"/>
          <p:cNvSpPr/>
          <p:nvPr/>
        </p:nvSpPr>
        <p:spPr>
          <a:xfrm>
            <a:off x="6504496"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3 · Round</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Lloyd-Max codebook for d = 4: ±0.219, ±0.674</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ŷ = [0.674, 0.219, 0.674, −0.219]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Codes </a:t>
            </a:r>
            <a:r>
              <a:rPr lang="en-US" sz="1100" dirty="0">
                <a:solidFill>
                  <a:srgbClr val="0F1B2D"/>
                </a:solidFill>
                <a:latin typeface="Consolas" pitchFamily="49" charset="0"/>
                <a:ea typeface="Consolas" pitchFamily="49" charset="-122"/>
                <a:cs typeface="Consolas" pitchFamily="49" charset="-120"/>
              </a:rPr>
              <a:t>11 10 11 01</a:t>
            </a:r>
            <a:r>
              <a:rPr lang="en-US" sz="1100" dirty="0">
                <a:solidFill>
                  <a:srgbClr val="3A4556"/>
                </a:solidFill>
                <a:latin typeface="IBM Plex Sans" pitchFamily="34" charset="0"/>
                <a:ea typeface="IBM Plex Sans" pitchFamily="34" charset="-122"/>
                <a:cs typeface="IBM Plex Sans" pitchFamily="34" charset="-120"/>
              </a:rPr>
              <a:t>, 8 bits</a:t>
            </a:r>
            <a:endParaRPr lang="en-US" sz="1100" dirty="0"/>
          </a:p>
        </p:txBody>
      </p:sp>
      <p:sp>
        <p:nvSpPr>
          <p:cNvPr id="13" name="Shape 13"/>
          <p:cNvSpPr/>
          <p:nvPr/>
        </p:nvSpPr>
        <p:spPr>
          <a:xfrm>
            <a:off x="9110344"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4" name="Text 14"/>
          <p:cNvSpPr/>
          <p:nvPr/>
        </p:nvSpPr>
        <p:spPr>
          <a:xfrm>
            <a:off x="9270344"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4 · Decode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x̃ = ‖v‖·Πᵀ·ŷ = [3.65, −3.65, 1.19, 1.19]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24% error. ⟨q, x̃⟩ = </a:t>
            </a:r>
            <a:r>
              <a:rPr lang="en-US" sz="1100" b="1" dirty="0">
                <a:solidFill>
                  <a:srgbClr val="0F1B2D"/>
                </a:solidFill>
                <a:latin typeface="IBM Plex Sans" pitchFamily="34" charset="0"/>
                <a:ea typeface="IBM Plex Sans" pitchFamily="34" charset="-122"/>
                <a:cs typeface="IBM Plex Sans" pitchFamily="34" charset="-120"/>
              </a:rPr>
              <a:t>8.48</a:t>
            </a:r>
            <a:r>
              <a:rPr lang="en-US" sz="1100" dirty="0">
                <a:solidFill>
                  <a:srgbClr val="3A4556"/>
                </a:solidFill>
                <a:latin typeface="IBM Plex Sans" pitchFamily="34" charset="0"/>
                <a:ea typeface="IBM Plex Sans" pitchFamily="34" charset="-122"/>
                <a:cs typeface="IBM Plex Sans" pitchFamily="34" charset="-120"/>
              </a:rPr>
              <a:t> &lt; 9: the score shrinks.</a:t>
            </a:r>
            <a:endParaRPr lang="en-US" sz="1100" dirty="0"/>
          </a:p>
        </p:txBody>
      </p:sp>
      <p:sp>
        <p:nvSpPr>
          <p:cNvPr id="15" name="Shape 15"/>
          <p:cNvSpPr/>
          <p:nvPr/>
        </p:nvSpPr>
        <p:spPr>
          <a:xfrm>
            <a:off x="812800"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6" name="Text 16"/>
          <p:cNvSpPr/>
          <p:nvPr/>
        </p:nvSpPr>
        <p:spPr>
          <a:xfrm>
            <a:off x="972800"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5 · Residual</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v − x̃ = [−0.65, −0.35, 0.81, −0.69]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a:t>
            </a:r>
            <a:r>
              <a:rPr lang="en-US" sz="1100" b="1" dirty="0">
                <a:solidFill>
                  <a:srgbClr val="0F1B2D"/>
                </a:solidFill>
                <a:latin typeface="IBM Plex Sans" pitchFamily="34" charset="0"/>
                <a:ea typeface="IBM Plex Sans" pitchFamily="34" charset="-122"/>
                <a:cs typeface="IBM Plex Sans" pitchFamily="34" charset="-120"/>
              </a:rPr>
              <a:t>1.29</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Missing score ⟨q, r⟩ = 0.52</a:t>
            </a:r>
            <a:endParaRPr lang="en-US" sz="1100" dirty="0"/>
          </a:p>
        </p:txBody>
      </p:sp>
      <p:sp>
        <p:nvSpPr>
          <p:cNvPr id="17" name="Shape 17"/>
          <p:cNvSpPr/>
          <p:nvPr/>
        </p:nvSpPr>
        <p:spPr>
          <a:xfrm>
            <a:off x="3578648"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8" name="Text 18"/>
          <p:cNvSpPr/>
          <p:nvPr/>
        </p:nvSpPr>
        <p:spPr>
          <a:xfrm>
            <a:off x="3738648"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6 · Sign sketch of r</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 = QJL's 3 rows + [0.4, −0.7, −0.3, 0.9]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S·r = [0.47, 0.31, −0.32, −0.87]</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Stored as </a:t>
            </a:r>
            <a:r>
              <a:rPr lang="en-US" sz="1100" dirty="0">
                <a:solidFill>
                  <a:srgbClr val="0F1B2D"/>
                </a:solidFill>
                <a:latin typeface="Consolas" pitchFamily="49" charset="0"/>
                <a:ea typeface="Consolas" pitchFamily="49" charset="-122"/>
                <a:cs typeface="Consolas" pitchFamily="49" charset="-120"/>
              </a:rPr>
              <a:t>1100</a:t>
            </a:r>
            <a:r>
              <a:rPr lang="en-US" sz="1100" dirty="0">
                <a:solidFill>
                  <a:srgbClr val="3A4556"/>
                </a:solidFill>
                <a:latin typeface="IBM Plex Sans" pitchFamily="34" charset="0"/>
                <a:ea typeface="IBM Plex Sans" pitchFamily="34" charset="-122"/>
                <a:cs typeface="IBM Plex Sans" pitchFamily="34" charset="-120"/>
              </a:rPr>
              <a:t>, 4 bits</a:t>
            </a:r>
            <a:endParaRPr lang="en-US" sz="1100" dirty="0"/>
          </a:p>
        </p:txBody>
      </p:sp>
      <p:sp>
        <p:nvSpPr>
          <p:cNvPr id="19" name="Shape 19"/>
          <p:cNvSpPr/>
          <p:nvPr/>
        </p:nvSpPr>
        <p:spPr>
          <a:xfrm>
            <a:off x="6344496"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20" name="Text 20"/>
          <p:cNvSpPr/>
          <p:nvPr/>
        </p:nvSpPr>
        <p:spPr>
          <a:xfrm>
            <a:off x="6504496"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7 · Score q = [1, −1, 1, 0]</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 [1.5, −0.7, −0.8,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sign(S·r)⟩ =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√(π/2)/4 · 1.29 · 0.8 = </a:t>
            </a:r>
            <a:r>
              <a:rPr lang="en-US" sz="1100" b="1" dirty="0">
                <a:solidFill>
                  <a:srgbClr val="0F1B2D"/>
                </a:solidFill>
                <a:latin typeface="IBM Plex Sans" pitchFamily="34" charset="0"/>
                <a:ea typeface="IBM Plex Sans" pitchFamily="34" charset="-122"/>
                <a:cs typeface="IBM Plex Sans" pitchFamily="34" charset="-120"/>
              </a:rPr>
              <a:t>0.32</a:t>
            </a:r>
            <a:endParaRPr lang="en-US" sz="1100" dirty="0"/>
          </a:p>
        </p:txBody>
      </p:sp>
      <p:sp>
        <p:nvSpPr>
          <p:cNvPr id="21" name="Shape 21"/>
          <p:cNvSpPr/>
          <p:nvPr/>
        </p:nvSpPr>
        <p:spPr>
          <a:xfrm>
            <a:off x="9110344" y="4330000"/>
            <a:ext cx="2585848" cy="1720000"/>
          </a:xfrm>
          <a:prstGeom prst="roundRect">
            <a:avLst>
              <a:gd name="adj" fmla="val 6060"/>
            </a:avLst>
          </a:prstGeom>
          <a:solidFill>
            <a:srgbClr val="0F1B2D"/>
          </a:solidFill>
          <a:ln/>
        </p:spPr>
        <p:txBody>
          <a:bodyPr/>
          <a:p/>
        </p:txBody>
      </p:sp>
      <p:sp>
        <p:nvSpPr>
          <p:cNvPr id="22" name="Text 22"/>
          <p:cNvSpPr/>
          <p:nvPr/>
        </p:nvSpPr>
        <p:spPr>
          <a:xfrm>
            <a:off x="9270344"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F2A35E"/>
                </a:solidFill>
                <a:latin typeface="IBM Plex Sans" pitchFamily="34" charset="0"/>
                <a:ea typeface="IBM Plex Sans" pitchFamily="34" charset="-122"/>
                <a:cs typeface="IBM Plex Sans" pitchFamily="34" charset="-120"/>
              </a:rPr>
              <a:t>8.48 + 0.32</a:t>
            </a:r>
            <a:endParaRPr lang="en-US" sz="140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8.81</a:t>
            </a:r>
            <a:r>
              <a:rPr lang="en-US" sz="1100" dirty="0">
                <a:solidFill>
                  <a:srgbClr val="D9DEE6"/>
                </a:solidFill>
                <a:latin typeface="IBM Plex Sans" pitchFamily="34" charset="0"/>
                <a:ea typeface="IBM Plex Sans" pitchFamily="34" charset="-122"/>
                <a:cs typeface="IBM Plex Sans" pitchFamily="34" charset="-120"/>
              </a:rPr>
              <a:t>  vs exact 9</a:t>
            </a:r>
            <a:endParaRPr lang="en-US" sz="2800" dirty="0"/>
          </a:p>
          <a:p>
            <a:pPr algn="l" indent="0" marL="0">
              <a:lnSpc>
                <a:spcPts val="1540"/>
              </a:lnSpc>
              <a:spcAft>
                <a:spcPts val="400"/>
              </a:spcAft>
              <a:buNone/>
            </a:pPr>
            <a:r>
              <a:rPr lang="en-US" sz="1100" dirty="0">
                <a:solidFill>
                  <a:srgbClr val="D9DEE6"/>
                </a:solidFill>
                <a:latin typeface="IBM Plex Sans" pitchFamily="34" charset="0"/>
                <a:ea typeface="IBM Plex Sans" pitchFamily="34" charset="-122"/>
                <a:cs typeface="IBM Plex Sans" pitchFamily="34" charset="-120"/>
              </a:rPr>
              <a:t>44 bits stored instead of 64</a:t>
            </a:r>
            <a:endParaRPr lang="en-US" sz="1100" dirty="0"/>
          </a:p>
        </p:txBody>
      </p:sp>
      <p:sp>
        <p:nvSpPr>
          <p:cNvPr id="23"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4.3 of the guide. Over 20,000 random rotations the MSE stage alone averages 8.32 and the full estimate 9.00.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
        <p:nvSpPr>
          <p:cNvPr id="8" name="Score note 0"/>
          <p:cNvSpPr/>
          <p:nvPr/>
        </p:nvSpPr>
        <p:spPr>
          <a:xfrm>
            <a:off x="825500" y="5680000"/>
            <a:ext cx="611376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Average task score out of 100 (F1, ROUGE-L, accuracy or edit similarity per task), not % correct.</a:t>
            </a:r>
            <a:endParaRPr lang="en-US" sz="1200" dirty="0"/>
          </a:p>
        </p:txBody>
      </p:sp>
      <p:sp>
        <p:nvSpPr>
          <p:cNvPr id="8" name="Score note 1"/>
          <p:cNvSpPr/>
          <p:nvPr/>
        </p:nvSpPr>
        <p:spPr>
          <a:xfrm>
            <a:off x="7307560" y="5900000"/>
            <a:ext cx="407164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Recall score from 0 to 1, averaged over all lengths and depths.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Consolas" pitchFamily="49" charset="0"/>
                <a:ea typeface="Consolas" pitchFamily="49" charset="-122"/>
                <a:cs typeface="Consolas"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Consolas" pitchFamily="49" charset="0"/>
                <a:ea typeface="Consolas" pitchFamily="49" charset="-122"/>
                <a:cs typeface="Consolas"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txBody>
          <a:bodyPr/>
          <a:p/>
        </p:txBody>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txBody>
          <a:bodyPr/>
          <a:p/>
        </p:txBody>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txBody>
          <a:bodyPr/>
          <a:p/>
        </p:txBody>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txBody>
          <a:bodyPr/>
          <a:p/>
        </p:txBody>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cache = TurboQuantCache(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model.config,</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make_k=mixed_factory(0.25, 3, 2), # 32 ch @3b + 96 @2b</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make_v=mixed_factory(0.25, 3, 2),</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out = model.generate(ids, past_key_values=cache,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max_new_tokens=64)</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txBody>
          <a:bodyPr/>
          <a:p/>
        </p:txBody>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Consolas" pitchFamily="49" charset="0"/>
                <a:ea typeface="Consolas" pitchFamily="49" charset="-122"/>
                <a:cs typeface="Consolas"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txBody>
          <a:bodyPr/>
          <a:p/>
        </p:txBody>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txBody>
          <a:bodyPr/>
          <a:p/>
        </p:txBody>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txBody>
          <a:bodyPr/>
          <a:p/>
        </p:txBody>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txBody>
          <a:bodyPr/>
          <a:p/>
        </p:txBody>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txBody>
          <a:bodyPr/>
          <a:p/>
        </p:txBody>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txBody>
          <a:bodyPr/>
          <a:p/>
        </p:txBody>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txBody>
          <a:bodyPr/>
          <a:p/>
        </p:txBody>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txBody>
          <a:bodyPr/>
          <a:p/>
        </p:txBody>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REAL DATA</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A · SIMILAR PROVISIONS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520000"/>
          </a:xfrm>
          <a:prstGeom prst="roundRect">
            <a:avLst>
              <a:gd name="adj" fmla="val 4790"/>
            </a:avLst>
          </a:prstGeom>
          <a:solidFill>
            <a:srgbClr val="0F1B2D"/>
          </a:solidFill>
          <a:ln/>
        </p:spPr>
        <p:txBody>
          <a:bodyPr/>
          <a:p/>
        </p:txBody>
      </p:sp>
      <p:sp>
        <p:nvSpPr>
          <p:cNvPr id="6"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7"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8"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B · MEMO SUGGESTIONS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LESSONS</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