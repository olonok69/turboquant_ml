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9"/>
    <p:sldId id="257" r:id="rId3"/>
    <p:sldId id="279" r:id="rId30"/>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4" r:id="rId25"/>
    <p:sldId id="275" r:id="rId26"/>
    <p:sldId id="276" r:id="rId27"/>
    <p:sldId id="277" r:id="rId28"/>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21.xml"/><Relationship Id="rId18" Type="http://schemas.openxmlformats.org/officeDocument/2006/relationships/slide" Target="slides/slide22.xml"/><Relationship Id="rId19" Type="http://schemas.openxmlformats.org/officeDocument/2006/relationships/slide" Target="slides/slide23.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4 and 5 showed where TurboQuant shines. These are two real "find similar" features of a legal-documents platform where we tested it. Before benchmarking, ask three questions: where do the vectors live, what score does the product show, and what is really slow. Premise check: the first benchmark assumed a Qdrant provisions collection and a 0.90 cosine merge threshold; neither exists. Guide §8; case study chapter.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truth is exact fuzz.ratio of 500 provisions against all 2,501. Share of pairs kept by floor: 30 → 70 %, 40 → 45 %, 50 → 1.6 %, 60 → 0.8 %, 70 → 0.7 %. Two unrelated long provisions already score about 38; a 500,000-provision firm at floor 30 is about 87 billion pairs (about 2 billion at 50). TurboQuant keeps cosine neighbours better than int8 or binary at each bit budget, as the paper promises, but recall of the pairs the product scores does not move: they are near-duplicates every method finds. Elasticsearch built-ins agree (top-10 overlap with exact: hnsw 0.993, int8_hnsw 0.986, int4_hnsw 0.950 / 0.996 rescored, bbq_hnsw 0.878 / 0.995 rescored), and 8.18 applies int8_hnsw by default. 12 known-answer checks (canary.py) ran first. Verdict: TurboQuant cannot help.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B: TurboQuant does not help here either. The search is well under 1 % of the request and runs in the background. Only around 200,000 memos in one firm does exact search reach a third of a second (339 ms p50; 255 ms with Qdrant int8), still well below the LLM step. TurboQuant 4-bit beats plain int8 (244 vs 1,438 dropped), but Qdrant's own quantization with rescoring drops nothing and needs no new code. What the benchmark did find: random memo pairs score 0.38 on average (p95 0.56), so the 0.5 floor lets through about 152 candidates per question. Quality depends on the re-ranker and LLM check.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shrinks bytes per vector, not the number of anything. If the product score is edit distance, BM25 or a rule, vectors can only pre-filter, and a lexical pre-filter may do as well. Exact search on small filtered sets is rarely memory-bound. The known-answer checks caught bugs in the benchmark itself before it produced results.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a quick picture of what the KV cache is, for anyone who has not met it. A language model writes one word, strictly one token, at a time. To choose the next word, every layer runs attention: the newest word makes a query, which says what it is looking for. Every earlier word has a key, a label saying what it is about, and a value, the information it hands over. The query is compared with all the keys, and the values of the best matches are mixed together. Left side: without a cache, the model would recompute the keys and values of the whole sentence at every step, so the work keeps growing. Right side: those keys and values never change once computed, so the model stores them and computes only the newest word's pair. That store is the KV cache. It makes generation fast, but it costs memory: one key and one value per token, in every layer and every head, for every user. The next slide puts a number on it, and the rest of the talk is about making those vectors 4 to 6 times smaller.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what goes wrong with classic quantization, here is how it works, on eight numbers. Step one: find the range of the block, the smallest and the largest number. Step two: with 2 bits we can name four allowed values, so we spread four values evenly over that range. Step three: every number is replaced by the 2-bit code of the nearest allowed value; that rounding is the only place we lose information. Step four: we store the codes, plus the minimum and the step so we can decode. Reading back is just minimum plus code times step, and the bottom row shows the error each number picks up. Two things to notice. First, the range has to be stored for every block, and that is the hidden tax on the next slide. Second, the two extreme numbers set the range, so five of the eight numbers share only two values. TurboQuant keeps the rounding and the storing, but replaces the first two steps: it rotates the vector first so nothing sticks out, and uses one fixed set of values for every vector, so there is no range to store.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2A35E"/>
          </a:solidFill>
          <a:ln/>
        </p:spPr>
      </p:sp>
      <p:sp>
        <p:nvSpPr>
          <p:cNvPr id="3"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JetBrains Mono" pitchFamily="49" charset="0"/>
                <a:ea typeface="JetBrains Mono" pitchFamily="49" charset="-122"/>
                <a:cs typeface="JetBrains Mono" pitchFamily="49" charset="-120"/>
              </a:rPr>
              <a:t>GOOGLE RESEARCH · ARXIV 2504.19874</a:t>
            </a:r>
            <a:endParaRPr lang="en-US" sz="1400" dirty="0"/>
          </a:p>
        </p:txBody>
      </p:sp>
      <p:sp>
        <p:nvSpPr>
          <p:cNvPr id="4"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5"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6"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7"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8"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9"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BACKGROUND · THE KV CACHE</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KV cache: compute once, reuse at every step</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price: one K and one V per token, in every layer and head. That is what TurboQuant compresses.</a:t>
            </a:r>
            <a:endParaRPr lang="en-US" sz="1200" dirty="0"/>
          </a:p>
        </p:txBody>
      </p:sp>
      <p:pic>
        <p:nvPicPr>
          <p:cNvPr id="13" name="Picture 12" descr="fig15_kvcache_basics_deck_en.png"/>
          <p:cNvPicPr>
            <a:picLocks noChangeAspect="1"/>
          </p:cNvPicPr>
          <p:nvPr/>
        </p:nvPicPr>
        <p:blipFill>
          <a:blip r:embed="rId2"/>
          <a:stretch>
            <a:fillRect/>
          </a:stretch>
        </p:blipFill>
        <p:spPr>
          <a:xfrm>
            <a:off x="486299" y="1900000"/>
            <a:ext cx="10883392" cy="45274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PROBLEM</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4"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sp>
      <p:sp>
        <p:nvSpPr>
          <p:cNvPr id="5"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LLM KV CACHE · LLAMA-3.1-8B, FP16</a:t>
            </a:r>
            <a:endParaRPr lang="en-US" sz="1200" dirty="0"/>
          </a:p>
        </p:txBody>
      </p:sp>
      <p:sp>
        <p:nvSpPr>
          <p:cNvPr id="6"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7"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8"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sp>
      <p:sp>
        <p:nvSpPr>
          <p:cNvPr id="9"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VECTOR INDEX · 1M × 1536-D FLOAT32</a:t>
            </a:r>
            <a:endParaRPr lang="en-US" sz="1200" dirty="0"/>
          </a:p>
        </p:txBody>
      </p:sp>
      <p:sp>
        <p:nvSpPr>
          <p:cNvPr id="10"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1"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HIDDEN TAX</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8077200" y="2529681"/>
            <a:ext cx="3302000" cy="3012281"/>
          </a:xfrm>
          <a:prstGeom prst="roundRect">
            <a:avLst>
              <a:gd name="adj" fmla="val 3373"/>
            </a:avLst>
          </a:prstGeom>
          <a:solidFill>
            <a:srgbClr val="0F1B2D"/>
          </a:solidFill>
          <a:ln/>
        </p:spPr>
      </p:sp>
      <p:sp>
        <p:nvSpPr>
          <p:cNvPr id="6"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7"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THREE PAPERS, ONE IDEA</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4"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sp>
      <p:sp>
        <p:nvSpPr>
          <p:cNvPr id="5"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JUN 2024 · 2406.03482</a:t>
            </a:r>
            <a:endParaRPr lang="en-US" sz="1200" dirty="0"/>
          </a:p>
        </p:txBody>
      </p:sp>
      <p:sp>
        <p:nvSpPr>
          <p:cNvPr id="6"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7"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8"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sp>
      <p:sp>
        <p:nvSpPr>
          <p:cNvPr id="9"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FEB 2025 · 2502.02617</a:t>
            </a:r>
            <a:endParaRPr lang="en-US" sz="1200" dirty="0"/>
          </a:p>
        </p:txBody>
      </p:sp>
      <p:sp>
        <p:nvSpPr>
          <p:cNvPr id="10"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1"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2" name="Shape 10"/>
          <p:cNvSpPr/>
          <p:nvPr/>
        </p:nvSpPr>
        <p:spPr>
          <a:xfrm>
            <a:off x="8001000" y="2529681"/>
            <a:ext cx="3378200" cy="2765524"/>
          </a:xfrm>
          <a:prstGeom prst="roundRect">
            <a:avLst>
              <a:gd name="adj" fmla="val 3674"/>
            </a:avLst>
          </a:prstGeom>
          <a:solidFill>
            <a:srgbClr val="0F1B2D"/>
          </a:solidFill>
          <a:ln/>
        </p:spPr>
      </p:sp>
      <p:sp>
        <p:nvSpPr>
          <p:cNvPr id="13"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JetBrains Mono" pitchFamily="49" charset="0"/>
                <a:ea typeface="JetBrains Mono" pitchFamily="49" charset="-122"/>
                <a:cs typeface="JetBrains Mono" pitchFamily="49" charset="-120"/>
              </a:rPr>
              <a:t>APR 2025 · 2504.19874</a:t>
            </a:r>
            <a:endParaRPr lang="en-US" sz="1200" dirty="0"/>
          </a:p>
        </p:txBody>
      </p:sp>
      <p:sp>
        <p:nvSpPr>
          <p:cNvPr id="14"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5"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1 · TURBOQUANT_MSE</a:t>
            </a:r>
            <a:endParaRPr lang="en-US" sz="1200" dirty="0"/>
          </a:p>
        </p:txBody>
      </p:sp>
      <p:sp>
        <p:nvSpPr>
          <p:cNvPr id="3"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4"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sp>
      <p:sp>
        <p:nvSpPr>
          <p:cNvPr id="5"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6"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7"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8"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sp>
      <p:sp>
        <p:nvSpPr>
          <p:cNvPr id="9"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0"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1"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2"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sp>
      <p:sp>
        <p:nvSpPr>
          <p:cNvPr id="13"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4"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5"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6" name="Shape 11"/>
          <p:cNvSpPr/>
          <p:nvPr/>
        </p:nvSpPr>
        <p:spPr>
          <a:xfrm>
            <a:off x="9242425" y="2302073"/>
            <a:ext cx="2136775" cy="1394916"/>
          </a:xfrm>
          <a:prstGeom prst="roundRect">
            <a:avLst>
              <a:gd name="adj" fmla="val 7284"/>
            </a:avLst>
          </a:prstGeom>
          <a:solidFill>
            <a:srgbClr val="0F1B2D"/>
          </a:solidFill>
          <a:ln/>
        </p:spPr>
      </p:sp>
      <p:sp>
        <p:nvSpPr>
          <p:cNvPr id="17"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8"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19"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0"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1"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2 · TURBOQUANT_PROD</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4"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sp>
      <p:sp>
        <p:nvSpPr>
          <p:cNvPr id="5"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6"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7"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8"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sp>
      <p:sp>
        <p:nvSpPr>
          <p:cNvPr id="9"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0"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idx = Q_mse(x) with b−1 bits</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r = x − Q_mse⁻¹(idx)</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store idx, sign(S·r), ‖r‖</a:t>
            </a:r>
            <a:endParaRPr lang="en-US" sz="1300" dirty="0"/>
          </a:p>
        </p:txBody>
      </p:sp>
      <p:sp>
        <p:nvSpPr>
          <p:cNvPr id="11"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2" name="Shape 10"/>
          <p:cNvSpPr/>
          <p:nvPr/>
        </p:nvSpPr>
        <p:spPr>
          <a:xfrm>
            <a:off x="8001000" y="2529681"/>
            <a:ext cx="3378200" cy="2781300"/>
          </a:xfrm>
          <a:prstGeom prst="roundRect">
            <a:avLst>
              <a:gd name="adj" fmla="val 3653"/>
            </a:avLst>
          </a:prstGeom>
          <a:solidFill>
            <a:srgbClr val="0F1B2D"/>
          </a:solidFill>
          <a:ln/>
        </p:spPr>
      </p:sp>
      <p:sp>
        <p:nvSpPr>
          <p:cNvPr id="13"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4"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5"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NEAR-OPTIMAL</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120900"/>
          </a:xfrm>
          <a:prstGeom prst="roundRect">
            <a:avLst>
              <a:gd name="adj" fmla="val 4790"/>
            </a:avLst>
          </a:prstGeom>
          <a:solidFill>
            <a:srgbClr val="0F1B2D"/>
          </a:solidFill>
          <a:ln/>
        </p:spPr>
      </p:sp>
      <p:sp>
        <p:nvSpPr>
          <p:cNvPr id="6"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7"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8"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KV CACHE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JetBrains Mono" pitchFamily="49" charset="0"/>
                <a:ea typeface="JetBrains Mono" pitchFamily="49" charset="-122"/>
                <a:cs typeface="JetBrains Mono" pitchFamily="49" charset="-120"/>
              </a:rPr>
              <a:t>IN PRODUCTION</a:t>
            </a:r>
            <a:endParaRPr lang="en-US" sz="1196" dirty="0"/>
          </a:p>
        </p:txBody>
      </p:sp>
      <p:sp>
        <p:nvSpPr>
          <p:cNvPr id="3"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4"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sp>
      <p:sp>
        <p:nvSpPr>
          <p:cNvPr id="5"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GOOGLE RESEARCH BLOG</a:t>
            </a:r>
            <a:endParaRPr lang="en-US" sz="1196" dirty="0"/>
          </a:p>
        </p:txBody>
      </p:sp>
      <p:sp>
        <p:nvSpPr>
          <p:cNvPr id="6"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7"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8"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sp>
      <p:sp>
        <p:nvSpPr>
          <p:cNvPr id="9"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VLLM 0.20.2+ · H100</a:t>
            </a:r>
            <a:endParaRPr lang="en-US" sz="1196" dirty="0"/>
          </a:p>
        </p:txBody>
      </p:sp>
      <p:sp>
        <p:nvSpPr>
          <p:cNvPr id="10"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1"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2"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JetBrains Mono" pitchFamily="49" charset="0"/>
                <a:ea typeface="JetBrains Mono" pitchFamily="49" charset="-122"/>
                <a:cs typeface="JetBrains Mono" pitchFamily="49" charset="-120"/>
              </a:rPr>
              <a:t>vllm serve &lt;model&gt; --kv-cache-dtype turboquant_4bit_nc # or turboquant_k8v4, turboquant_k3v4_nc, turboquant_3bit_nc</a:t>
            </a:r>
            <a:endParaRPr lang="en-US" sz="1383"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VECTOR SEARCH</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4"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3"/>
          <p:cNvSpPr/>
          <p:nvPr/>
        </p:nvSpPr>
        <p:spPr>
          <a:xfrm>
            <a:off x="6929140" y="2529681"/>
            <a:ext cx="4450060" cy="2070100"/>
          </a:xfrm>
          <a:prstGeom prst="roundRect">
            <a:avLst>
              <a:gd name="adj" fmla="val 4908"/>
            </a:avLst>
          </a:prstGeom>
          <a:solidFill>
            <a:srgbClr val="0F1B2D"/>
          </a:solidFill>
          <a:ln/>
        </p:spPr>
      </p:sp>
      <p:sp>
        <p:nvSpPr>
          <p:cNvPr id="7"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8"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THE DEMOS</a:t>
            </a:r>
            <a:endParaRPr lang="en-US" sz="1200" dirty="0"/>
          </a:p>
        </p:txBody>
      </p:sp>
      <p:sp>
        <p:nvSpPr>
          <p:cNvPr id="3"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4" name="Shape 2"/>
          <p:cNvSpPr/>
          <p:nvPr/>
        </p:nvSpPr>
        <p:spPr>
          <a:xfrm>
            <a:off x="812800" y="2743002"/>
            <a:ext cx="5181600" cy="2496741"/>
          </a:xfrm>
          <a:prstGeom prst="roundRect">
            <a:avLst>
              <a:gd name="adj" fmla="val 4069"/>
            </a:avLst>
          </a:prstGeom>
          <a:solidFill>
            <a:srgbClr val="1E2F48"/>
          </a:solidFill>
          <a:ln/>
        </p:spPr>
      </p:sp>
      <p:sp>
        <p:nvSpPr>
          <p:cNvPr id="5"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llm_kv_cache_demo.ipynb</a:t>
            </a:r>
            <a:endParaRPr lang="en-US" sz="1300" dirty="0"/>
          </a:p>
        </p:txBody>
      </p:sp>
      <p:sp>
        <p:nvSpPr>
          <p:cNvPr id="6"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7"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Qwen2.5-1.5B-Instruct on a free T4. Theory check, perplexity, KL and top-1 agreement versus FP16, needle in a haystack up to 8k tokens, measured memory and speed.</a:t>
            </a:r>
            <a:endParaRPr lang="en-US" sz="1500" dirty="0"/>
          </a:p>
        </p:txBody>
      </p:sp>
      <p:sp>
        <p:nvSpPr>
          <p:cNvPr id="8" name="Shape 6"/>
          <p:cNvSpPr/>
          <p:nvPr/>
        </p:nvSpPr>
        <p:spPr>
          <a:xfrm>
            <a:off x="6197600" y="2743002"/>
            <a:ext cx="5181600" cy="2496741"/>
          </a:xfrm>
          <a:prstGeom prst="roundRect">
            <a:avLst>
              <a:gd name="adj" fmla="val 4069"/>
            </a:avLst>
          </a:prstGeom>
          <a:solidFill>
            <a:srgbClr val="1E2F48"/>
          </a:solidFill>
          <a:ln/>
        </p:spPr>
      </p:sp>
      <p:sp>
        <p:nvSpPr>
          <p:cNvPr id="9"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vector_search_demo.ipynb</a:t>
            </a:r>
            <a:endParaRPr lang="en-US" sz="1300" dirty="0"/>
          </a:p>
        </p:txBody>
      </p:sp>
      <p:sp>
        <p:nvSpPr>
          <p:cNvPr id="10"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1"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LLM INFERENCE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4"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cache = TurboQuantCache(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model.config,</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make_k=mixed_factory(0.25, 3, 2), # 32 ch @3b + 96 @2b</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make_v=mixed_factory(0.25, 3, 2),</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out = model.generate(ids, past_key_values=cache,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max_new_tokens=64)</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print(cache.nbytes()) # measured, bit-packed</a:t>
            </a:r>
            <a:endParaRPr lang="en-US" sz="1300" dirty="0"/>
          </a:p>
        </p:txBody>
      </p:sp>
      <p:sp>
        <p:nvSpPr>
          <p:cNvPr id="5"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6"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7"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MEMORY</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3.9x smaller at 4 bits, 6.4x at 2.5 bits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95401"/>
          <a:ext cx="5753100" cy="3585369"/>
        </p:xfrm>
        <a:graphic>
          <a:graphicData uri="http://schemas.openxmlformats.org/drawingml/2006/table">
            <a:tbl>
              <a:tblPr/>
              <a:tblGrid>
                <a:gridCol w="2991612"/>
                <a:gridCol w="1380744"/>
                <a:gridCol w="1380744"/>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Cache, head_dim 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Bits / channel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vs 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1.0x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INT4, scale + zero per 32 ch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3.2x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3.5 (64 @4b + 64 @3b)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4.3x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5.1x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2.5 (32 @3b + 96 @2b)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6.4x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7.5x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6934200" y="2082701"/>
            <a:ext cx="4445000" cy="2313880"/>
          </a:xfrm>
          <a:prstGeom prst="roundRect">
            <a:avLst>
              <a:gd name="adj" fmla="val 4391"/>
            </a:avLst>
          </a:prstGeom>
          <a:solidFill>
            <a:srgbClr val="0F1B2D"/>
          </a:solidFill>
          <a:ln/>
        </p:spPr>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 8"/>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demo's bit-packed tensors, fp16 norms included. Quality, needle and speed results print live when the notebook runs on the T4.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JetBrains Mono" pitchFamily="49" charset="0"/>
                <a:ea typeface="JetBrains Mono" pitchFamily="49" charset="-122"/>
                <a:cs typeface="JetBrains Mono" pitchFamily="49" charset="-120"/>
              </a:rPr>
              <a:t>DEMO 2 · VECTOR SEARCH, MEASURED</a:t>
            </a:r>
            <a:endParaRPr lang="en-US" sz="1159" dirty="0"/>
          </a:p>
        </p:txBody>
      </p:sp>
      <p:sp>
        <p:nvSpPr>
          <p:cNvPr id="3" name="Text 1"/>
          <p:cNvSpPr/>
          <p:nvPr>
            <p:ph type="title"/>
          </p:nvPr>
        </p:nvSpPr>
        <p:spPr>
          <a:xfrm>
            <a:off x="812800" y="1271488"/>
            <a:ext cx="10883392" cy="882848"/>
          </a:xfrm>
          <a:prstGeom prst="rect">
            <a:avLst/>
          </a:prstGeom>
          <a:noFill/>
          <a:ln/>
        </p:spPr>
        <p:txBody>
          <a:bodyPr wrap="square" lIns="0" tIns="0" rIns="0" bIns="0" rtlCol="0" anchor="t">
            <a:norm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TurboQuant beats every trained baseline at both bit-widths</a:t>
            </a:r>
            <a:endParaRPr lang="en-US" sz="307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95637"/>
          <a:ext cx="10553700" cy="3450828"/>
        </p:xfrm>
        <a:graphic>
          <a:graphicData uri="http://schemas.openxmlformats.org/drawingml/2006/table">
            <a:tbl>
              <a:tblPr/>
              <a:tblGrid>
                <a:gridCol w="3588258"/>
                <a:gridCol w="949833"/>
                <a:gridCol w="1160907"/>
                <a:gridCol w="1266444"/>
                <a:gridCol w="1160907"/>
                <a:gridCol w="1160907"/>
                <a:gridCol w="1266444"/>
              </a:tblGrid>
              <a:tr h="345083">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Method</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Smaller</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Build (s)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QPS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R1@1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10@10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0.951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7.9x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0.891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390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0.818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PQ-FastScan</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3,784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0.799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0.832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1,039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0.715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13.2x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0.623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0.704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384-d embeddings of real text (Reuters, Gutenberg, Brown; TF-IDF + SVD), 4 CPU threads. Exact search: 857 QPS. Colab default is DBpedia OpenAI-1536.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2 · WHAT IT MEANS</a:t>
            </a:r>
            <a:endParaRPr lang="en-US" sz="1200" dirty="0"/>
          </a:p>
        </p:txBody>
      </p:sp>
      <p:sp>
        <p:nvSpPr>
          <p:cNvPr id="3" name="Text 1"/>
          <p:cNvSpPr/>
          <p:nvPr>
            <p:ph type="title"/>
          </p:nvPr>
        </p:nvSpPr>
        <p:spPr>
          <a:xfrm>
            <a:off x="812800" y="12801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More recall, no training, and exact results after a cheap re-rank</a:t>
            </a:r>
            <a:endParaRPr lang="en-US" sz="3200" dirty="0"/>
          </a:p>
        </p:txBody>
      </p:sp>
      <p:sp>
        <p:nvSpPr>
          <p:cNvPr id="4" name="Text 2"/>
          <p:cNvSpPr/>
          <p:nvPr/>
        </p:nvSpPr>
        <p:spPr>
          <a:xfrm>
            <a:off x="812800" y="2428081"/>
            <a:ext cx="6310254" cy="108645"/>
          </a:xfrm>
          <a:prstGeom prst="rect">
            <a:avLst/>
          </a:prstGeom>
          <a:noFill/>
          <a:ln/>
        </p:spPr>
        <p:txBody>
          <a:bodyPr wrap="square" lIns="0" tIns="0" rIns="0" bIns="0" rtlCol="0" anchor="t">
            <a:normAutofit/>
          </a:bodyPr>
          <a:lstStyle/>
          <a:p>
            <a:pPr algn="l" indent="0" marL="0">
              <a:lnSpc>
                <a:spcPts val="1152"/>
              </a:lnSpc>
              <a:buNone/>
            </a:pPr>
            <a:r>
              <a:rPr lang="en-US" sz="960" b="1" dirty="0">
                <a:solidFill>
                  <a:srgbClr val="0F1B2D"/>
                </a:solidFill>
                <a:latin typeface="IBM Plex Sans" pitchFamily="34" charset="0"/>
                <a:ea typeface="IBM Plex Sans" pitchFamily="34" charset="-122"/>
                <a:cs typeface="IBM Plex Sans" pitchFamily="34" charset="-120"/>
              </a:rPr>
              <a:t>Recall@1@1 at 4 bits</a:t>
            </a:r>
            <a:endParaRPr lang="en-US" sz="960" dirty="0"/>
          </a:p>
        </p:txBody>
      </p:sp>
      <p:sp>
        <p:nvSpPr>
          <p:cNvPr id="5" name="Text 3"/>
          <p:cNvSpPr/>
          <p:nvPr/>
        </p:nvSpPr>
        <p:spPr>
          <a:xfrm>
            <a:off x="812800" y="2720181"/>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turbovec</a:t>
            </a:r>
            <a:endParaRPr lang="en-US" sz="1300" dirty="0"/>
          </a:p>
        </p:txBody>
      </p:sp>
      <p:sp>
        <p:nvSpPr>
          <p:cNvPr id="6" name="Shape 4"/>
          <p:cNvSpPr/>
          <p:nvPr/>
        </p:nvSpPr>
        <p:spPr>
          <a:xfrm>
            <a:off x="2844800" y="2695972"/>
            <a:ext cx="5397500" cy="279400"/>
          </a:xfrm>
          <a:prstGeom prst="roundRect">
            <a:avLst>
              <a:gd name="adj" fmla="val 13636"/>
            </a:avLst>
          </a:prstGeom>
          <a:solidFill>
            <a:srgbClr val="B4521A"/>
          </a:solidFill>
          <a:ln/>
        </p:spPr>
      </p:sp>
      <p:sp>
        <p:nvSpPr>
          <p:cNvPr id="7" name="Text 5"/>
          <p:cNvSpPr/>
          <p:nvPr/>
        </p:nvSpPr>
        <p:spPr>
          <a:xfrm>
            <a:off x="8369300" y="2258020"/>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0.944</a:t>
            </a:r>
            <a:endParaRPr lang="en-US" sz="1300" dirty="0"/>
          </a:p>
        </p:txBody>
      </p:sp>
      <p:sp>
        <p:nvSpPr>
          <p:cNvPr id="8" name="Text 6"/>
          <p:cNvSpPr/>
          <p:nvPr/>
        </p:nvSpPr>
        <p:spPr>
          <a:xfrm>
            <a:off x="812800" y="3241973"/>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 (PyTorch)</a:t>
            </a:r>
            <a:endParaRPr lang="en-US" sz="1300" dirty="0"/>
          </a:p>
        </p:txBody>
      </p:sp>
      <p:sp>
        <p:nvSpPr>
          <p:cNvPr id="9" name="Shape 7"/>
          <p:cNvSpPr/>
          <p:nvPr/>
        </p:nvSpPr>
        <p:spPr>
          <a:xfrm>
            <a:off x="2844800" y="3217763"/>
            <a:ext cx="5213350" cy="279400"/>
          </a:xfrm>
          <a:prstGeom prst="roundRect">
            <a:avLst>
              <a:gd name="adj" fmla="val 13636"/>
            </a:avLst>
          </a:prstGeom>
          <a:solidFill>
            <a:srgbClr val="B4521A"/>
          </a:solidFill>
          <a:ln/>
        </p:spPr>
      </p:sp>
      <p:sp>
        <p:nvSpPr>
          <p:cNvPr id="10" name="Text 8"/>
          <p:cNvSpPr/>
          <p:nvPr/>
        </p:nvSpPr>
        <p:spPr>
          <a:xfrm>
            <a:off x="8185150" y="2779812"/>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0.912</a:t>
            </a:r>
            <a:endParaRPr lang="en-US" sz="1300" dirty="0"/>
          </a:p>
        </p:txBody>
      </p:sp>
      <p:sp>
        <p:nvSpPr>
          <p:cNvPr id="11" name="Text 9"/>
          <p:cNvSpPr/>
          <p:nvPr/>
        </p:nvSpPr>
        <p:spPr>
          <a:xfrm>
            <a:off x="812800" y="3763764"/>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RaBitQ</a:t>
            </a:r>
            <a:endParaRPr lang="en-US" sz="1300" dirty="0"/>
          </a:p>
        </p:txBody>
      </p:sp>
      <p:sp>
        <p:nvSpPr>
          <p:cNvPr id="12" name="Shape 10"/>
          <p:cNvSpPr/>
          <p:nvPr/>
        </p:nvSpPr>
        <p:spPr>
          <a:xfrm>
            <a:off x="2844800" y="3739555"/>
            <a:ext cx="4978400" cy="279400"/>
          </a:xfrm>
          <a:prstGeom prst="roundRect">
            <a:avLst>
              <a:gd name="adj" fmla="val 13636"/>
            </a:avLst>
          </a:prstGeom>
          <a:solidFill>
            <a:srgbClr val="2F6DB5"/>
          </a:solidFill>
          <a:ln/>
        </p:spPr>
      </p:sp>
      <p:sp>
        <p:nvSpPr>
          <p:cNvPr id="13" name="Text 11"/>
          <p:cNvSpPr/>
          <p:nvPr/>
        </p:nvSpPr>
        <p:spPr>
          <a:xfrm>
            <a:off x="7950200" y="3301603"/>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0.871</a:t>
            </a:r>
            <a:endParaRPr lang="en-US" sz="1300" dirty="0"/>
          </a:p>
        </p:txBody>
      </p:sp>
      <p:sp>
        <p:nvSpPr>
          <p:cNvPr id="14" name="Text 12"/>
          <p:cNvSpPr/>
          <p:nvPr/>
        </p:nvSpPr>
        <p:spPr>
          <a:xfrm>
            <a:off x="812800" y="4285555"/>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 LUT256</a:t>
            </a:r>
            <a:endParaRPr lang="en-US" sz="1300" dirty="0"/>
          </a:p>
        </p:txBody>
      </p:sp>
      <p:sp>
        <p:nvSpPr>
          <p:cNvPr id="15" name="Shape 13"/>
          <p:cNvSpPr/>
          <p:nvPr/>
        </p:nvSpPr>
        <p:spPr>
          <a:xfrm>
            <a:off x="2844800" y="4261346"/>
            <a:ext cx="4673600" cy="279400"/>
          </a:xfrm>
          <a:prstGeom prst="roundRect">
            <a:avLst>
              <a:gd name="adj" fmla="val 13636"/>
            </a:avLst>
          </a:prstGeom>
          <a:solidFill>
            <a:srgbClr val="2F6DB5"/>
          </a:solidFill>
          <a:ln/>
        </p:spPr>
      </p:sp>
      <p:sp>
        <p:nvSpPr>
          <p:cNvPr id="16" name="Text 14"/>
          <p:cNvSpPr/>
          <p:nvPr/>
        </p:nvSpPr>
        <p:spPr>
          <a:xfrm>
            <a:off x="7645400" y="3823395"/>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0.818</a:t>
            </a:r>
            <a:endParaRPr lang="en-US" sz="1300" dirty="0"/>
          </a:p>
        </p:txBody>
      </p:sp>
      <p:sp>
        <p:nvSpPr>
          <p:cNvPr id="17" name="Text 15"/>
          <p:cNvSpPr/>
          <p:nvPr/>
        </p:nvSpPr>
        <p:spPr>
          <a:xfrm>
            <a:off x="812800" y="4807347"/>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SQ 4-bit</a:t>
            </a:r>
            <a:endParaRPr lang="en-US" sz="1300" dirty="0"/>
          </a:p>
        </p:txBody>
      </p:sp>
      <p:sp>
        <p:nvSpPr>
          <p:cNvPr id="18" name="Shape 16"/>
          <p:cNvSpPr/>
          <p:nvPr/>
        </p:nvSpPr>
        <p:spPr>
          <a:xfrm>
            <a:off x="2844800" y="4783138"/>
            <a:ext cx="4654550" cy="279400"/>
          </a:xfrm>
          <a:prstGeom prst="roundRect">
            <a:avLst>
              <a:gd name="adj" fmla="val 13636"/>
            </a:avLst>
          </a:prstGeom>
          <a:solidFill>
            <a:srgbClr val="2F6DB5"/>
          </a:solidFill>
          <a:ln/>
        </p:spPr>
      </p:sp>
      <p:sp>
        <p:nvSpPr>
          <p:cNvPr id="19" name="Text 17"/>
          <p:cNvSpPr/>
          <p:nvPr/>
        </p:nvSpPr>
        <p:spPr>
          <a:xfrm>
            <a:off x="7626350" y="4345186"/>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0.814</a:t>
            </a:r>
            <a:endParaRPr lang="en-US" sz="1300" dirty="0"/>
          </a:p>
        </p:txBody>
      </p:sp>
      <p:sp>
        <p:nvSpPr>
          <p:cNvPr id="20" name="Text 18"/>
          <p:cNvSpPr/>
          <p:nvPr/>
        </p:nvSpPr>
        <p:spPr>
          <a:xfrm>
            <a:off x="812800" y="5329138"/>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PQ-FastScan</a:t>
            </a:r>
            <a:endParaRPr lang="en-US" sz="1300" dirty="0"/>
          </a:p>
        </p:txBody>
      </p:sp>
      <p:sp>
        <p:nvSpPr>
          <p:cNvPr id="21" name="Shape 19"/>
          <p:cNvSpPr/>
          <p:nvPr/>
        </p:nvSpPr>
        <p:spPr>
          <a:xfrm>
            <a:off x="2844800" y="5304929"/>
            <a:ext cx="4159250" cy="279400"/>
          </a:xfrm>
          <a:prstGeom prst="roundRect">
            <a:avLst>
              <a:gd name="adj" fmla="val 13636"/>
            </a:avLst>
          </a:prstGeom>
          <a:solidFill>
            <a:srgbClr val="2F6DB5"/>
          </a:solidFill>
          <a:ln/>
        </p:spPr>
      </p:sp>
      <p:sp>
        <p:nvSpPr>
          <p:cNvPr id="22" name="Text 20"/>
          <p:cNvSpPr/>
          <p:nvPr/>
        </p:nvSpPr>
        <p:spPr>
          <a:xfrm>
            <a:off x="7131050" y="4866977"/>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0.728</a:t>
            </a:r>
            <a:endParaRPr lang="en-US" sz="1300" dirty="0"/>
          </a:p>
        </p:txBody>
      </p:sp>
      <p:sp>
        <p:nvSpPr>
          <p:cNvPr id="23" name="Text 21"/>
          <p:cNvSpPr/>
          <p:nvPr/>
        </p:nvSpPr>
        <p:spPr>
          <a:xfrm>
            <a:off x="812800" y="5769074"/>
            <a:ext cx="6310254" cy="98326"/>
          </a:xfrm>
          <a:prstGeom prst="rect">
            <a:avLst/>
          </a:prstGeom>
          <a:noFill/>
          <a:ln/>
        </p:spPr>
        <p:txBody>
          <a:bodyPr wrap="square" lIns="0" tIns="0" rIns="0" bIns="0" rtlCol="0" anchor="t">
            <a:normAutofit/>
          </a:bodyPr>
          <a:lstStyle/>
          <a:p>
            <a:pPr algn="l" indent="0" marL="0">
              <a:lnSpc>
                <a:spcPts val="1008"/>
              </a:lnSpc>
              <a:buNone/>
            </a:pPr>
            <a:r>
              <a:rPr lang="en-US" sz="720" dirty="0">
                <a:solidFill>
                  <a:srgbClr val="5F6979"/>
                </a:solidFill>
                <a:latin typeface="IBM Plex Sans" pitchFamily="34" charset="0"/>
                <a:ea typeface="IBM Plex Sans" pitchFamily="34" charset="-122"/>
                <a:cs typeface="IBM Plex Sans" pitchFamily="34" charset="-120"/>
              </a:rPr>
              <a:t>Orange: TurboQuant. Blue: trained or calibrated baselines.</a:t>
            </a:r>
            <a:endParaRPr lang="en-US" sz="720" dirty="0"/>
          </a:p>
        </p:txBody>
      </p:sp>
      <p:sp>
        <p:nvSpPr>
          <p:cNvPr id="24" name="Shape 22"/>
          <p:cNvSpPr/>
          <p:nvPr/>
        </p:nvSpPr>
        <p:spPr>
          <a:xfrm>
            <a:off x="7294860" y="2428081"/>
            <a:ext cx="4084340" cy="1445220"/>
          </a:xfrm>
          <a:prstGeom prst="roundRect">
            <a:avLst>
              <a:gd name="adj" fmla="val 7030"/>
            </a:avLst>
          </a:prstGeom>
          <a:solidFill>
            <a:srgbClr val="0F1B2D"/>
          </a:solidFill>
          <a:ln/>
        </p:spPr>
      </p:sp>
      <p:sp>
        <p:nvSpPr>
          <p:cNvPr id="25"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26"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27"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sp>
      <p:sp>
        <p:nvSpPr>
          <p:cNvPr id="28"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0.14 s</a:t>
            </a:r>
            <a:endParaRPr lang="en-US" sz="3600" dirty="0"/>
          </a:p>
        </p:txBody>
      </p:sp>
      <p:sp>
        <p:nvSpPr>
          <p:cNvPr id="29"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PQ 4-bit needed 83 s of training first.</a:t>
            </a:r>
            <a:endParaRPr lang="en-US" sz="1400" dirty="0"/>
          </a:p>
        </p:txBody>
      </p:sp>
      <p:sp>
        <p:nvSpPr>
          <p:cNvPr id="30"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a:t>
            </a:r>
            <a:endParaRPr lang="en-US" sz="12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STUDIES · REAL DATA</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Two real features where compression did not help</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A · Similar provisions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edit distance (fuzz.ratio, 0–100), not cosine.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Pairs stored in PostgreSQL if ≥ 30; the UI defaults to 70.</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Embeddings (3-small, 1,536-d) sit in Elasticsearch, but no feature reads them.</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storage growth and slow writes.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 · Memo response suggestions</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cosine on 3-large embeddings (3,072-d).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Exact Qdrant search per firm: top 50, floor 0.5, retry at 0.42.</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Then a re-ranker and an LLM relevance check.</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latency per request.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rebuilds on real platform data (es_bench/, memo_bench/), not measurements of the production system.</a:t>
            </a:r>
            <a:endParaRPr lang="en-US" sz="12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A · SIMILAR PROVISIONS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Compression keeps the cosine neighbours, but the pairs that matter never move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520000"/>
        </p:xfrm>
        <a:graphic>
          <a:graphicData uri="http://schemas.openxmlformats.org/drawingml/2006/table">
            <a:tbl>
              <a:tblPr/>
              <a:tblGrid>
                <a:gridCol w="2350000"/>
                <a:gridCol w="1350000"/>
                <a:gridCol w="2250000"/>
                <a:gridCol w="1454100"/>
              </a:tblGrid>
              <a:tr h="36000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Memory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Top-10, raw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Recall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float32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scalar int8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0.949 → 0.999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binary 1-bit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32×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0.824 → 0.962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99.7 %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8×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0.966 → 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0.902 → 0.992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Trigram (pg_trgm)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520000"/>
          </a:xfrm>
          <a:prstGeom prst="roundRect">
            <a:avLst>
              <a:gd name="adj" fmla="val 4790"/>
            </a:avLst>
          </a:prstGeom>
          <a:solidFill>
            <a:srgbClr val="0F1B2D"/>
          </a:solidFill>
          <a:ln/>
        </p:spPr>
      </p:sp>
      <p:sp>
        <p:nvSpPr>
          <p:cNvPr id="6" name="Text 3"/>
          <p:cNvSpPr/>
          <p:nvPr/>
        </p:nvSpPr>
        <p:spPr>
          <a:xfrm>
            <a:off x="8890000" y="2834481"/>
            <a:ext cx="2249932" cy="635000"/>
          </a:xfrm>
          <a:prstGeom prst="rect">
            <a:avLst/>
          </a:prstGeom>
          <a:noFill/>
          <a:ln/>
        </p:spPr>
        <p:txBody>
          <a:bodyPr wrap="square" lIns="0" tIns="0" rIns="0" bIns="0" rtlCol="0" anchor="t"/>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70 %</a:t>
            </a:r>
            <a:endParaRPr lang="en-US" sz="4800" dirty="0"/>
          </a:p>
        </p:txBody>
      </p:sp>
      <p:sp>
        <p:nvSpPr>
          <p:cNvPr id="7" name="Text 4"/>
          <p:cNvSpPr/>
          <p:nvPr/>
        </p:nvSpPr>
        <p:spPr>
          <a:xfrm>
            <a:off x="8890000" y="3545681"/>
            <a:ext cx="2249932" cy="1500000"/>
          </a:xfrm>
          <a:prstGeom prst="rect">
            <a:avLst/>
          </a:prstGeom>
          <a:noFill/>
          <a:ln/>
        </p:spPr>
        <p:txBody>
          <a:bodyPr wrap="square" lIns="0" tIns="0" rIns="0" bIns="0" rtlCol="0" anchor="t"/>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of all pairs are kept at the store floor of 30. No vector technique changes that count.</a:t>
            </a:r>
            <a:endParaRPr lang="en-US" sz="1500" dirty="0"/>
          </a:p>
        </p:txBody>
      </p:sp>
      <p:sp>
        <p:nvSpPr>
          <p:cNvPr id="8" name="Text 5"/>
          <p:cNvSpPr/>
          <p:nvPr/>
        </p:nvSpPr>
        <p:spPr>
          <a:xfrm>
            <a:off x="812800" y="5700000"/>
            <a:ext cx="10883392" cy="558800"/>
          </a:xfrm>
          <a:prstGeom prst="rect">
            <a:avLst/>
          </a:prstGeom>
          <a:noFill/>
          <a:ln/>
        </p:spPr>
        <p:txBody>
          <a:bodyPr wrap="square" lIns="0" tIns="0" rIns="0" bIns="0" rtlCol="0" anchor="t"/>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The levers are the floor (a product decision) and a candidate filter; trigrams in PostgreSQL find as many pairs.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stand-in: 2,501 provisions, 500 queries, Elasticsearch 8.18. Recall @200 = share of fuzz ≥ 70 pairs among 200 candidates.</a:t>
            </a:r>
            <a:endParaRPr lang="en-US" sz="12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B · MEMO SUGGESTIONS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vector search is about 14 ms of a request that takes seconds</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Where the time goes, p50</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1929805"/>
        </p:xfrm>
        <a:graphic>
          <a:graphicData uri="http://schemas.openxmlformats.org/drawingml/2006/table">
            <a:tbl>
              <a:tblPr/>
              <a:tblGrid>
                <a:gridCol w="4513760"/>
                <a:gridCol w="1600000"/>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Time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Embed the new comment (API call)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vector search, 1,238 memos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LLM relevance check, top 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~3,800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search, 200,000 memos in one firm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339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Text 3"/>
          <p:cNvSpPr/>
          <p:nvPr/>
        </p:nvSpPr>
        <p:spPr>
          <a:xfrm>
            <a:off x="7294860" y="2529681"/>
            <a:ext cx="4206870" cy="30000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Suggestions dropped at 0.5, of 22,193</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2887542"/>
          <a:ext cx="4071640" cy="2315766"/>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float32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scalar int8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1,438 (6.5 %)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244 (1.1 %)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3,574 (16 %)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Qdrant quantized, rescored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 1,238 real comments, same Qdrant version. LLM row: a call of similar size, not the platform's own gate.</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STUDIES · LESSONS</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Before you compress, find what limits the feature</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Verdicts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A: cannot help. The cost is how many pairs are kept, not bytes per vector.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B: does not help. Search is under 1 % of the request; Qdrant int8 with rescoring drops no suggestion.</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In both, TurboQuant beat plain int8 at the same bits, as the paper promises.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Checklist</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Where are the vectors written and read?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the product's score a vector score?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What dominates: items, model calls, round trips?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search exact on small filtered sets?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Validate every instrument against a known answer.</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Full tables and limits: docs/guide case study chapter (EN / ES) and technical guide §8.</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PRACTICAL GUIDANCE</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RUN IT YOURSELF</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4"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sp>
      <p:sp>
        <p:nvSpPr>
          <p:cNvPr id="5"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6"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7"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sp>
      <p:sp>
        <p:nvSpPr>
          <p:cNvPr id="8"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9" name="Text 7"/>
          <p:cNvSpPr/>
          <p:nvPr/>
        </p:nvSpPr>
        <p:spPr>
          <a:xfrm>
            <a:off x="4662984" y="2851051"/>
            <a:ext cx="295201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Runtime › Change runtime type › T4 GPU. Vector demo: CPU is fine.</a:t>
            </a:r>
            <a:endParaRPr lang="en-US" sz="1500" dirty="0"/>
          </a:p>
        </p:txBody>
      </p:sp>
      <p:sp>
        <p:nvSpPr>
          <p:cNvPr id="10"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sp>
      <p:sp>
        <p:nvSpPr>
          <p:cNvPr id="11"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2"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vector demo streams 100k DBpedia vectors from the Hugging Face Hub, and PQ training takes a few minutes at d = 1536.</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REFERENCES</a:t>
            </a:r>
            <a:endParaRPr lang="en-US" sz="1200" dirty="0"/>
          </a:p>
        </p:txBody>
      </p:sp>
      <p:sp>
        <p:nvSpPr>
          <p:cNvPr id="3"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4"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BACKGROUND · QUANTIZATION</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Quantization: round, store a short code, read it back</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TurboQuant keeps steps 3 and 4 and replaces 1 and 2: rotate first, then use one fixed set of values, so no range is stored.</a:t>
            </a:r>
            <a:endParaRPr lang="en-US" sz="1200" dirty="0"/>
          </a:p>
        </p:txBody>
      </p:sp>
      <p:pic>
        <p:nvPicPr>
          <p:cNvPr id="13" name="Picture 12" descr="slide_quant.png"/>
          <p:cNvPicPr>
            <a:picLocks noChangeAspect="1"/>
          </p:cNvPicPr>
          <p:nvPr/>
        </p:nvPicPr>
        <p:blipFill>
          <a:blip r:embed="rId2"/>
          <a:stretch>
            <a:fillRect/>
          </a:stretch>
        </p:blipFill>
        <p:spPr>
          <a:xfrm>
            <a:off x="1330043" y="1900000"/>
            <a:ext cx="9531914" cy="4480000"/>
          </a:xfrm>
          <a:prstGeom prst="rect">
            <a:avLst/>
          </a:prstGeom>
        </p:spPr>
      </p:pic>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