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4" r:id="rId25"/>
    <p:sldId id="275" r:id="rId26"/>
    <p:sldId id="276" r:id="rId27"/>
    <p:sldId id="277" r:id="rId28"/>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TurboQuant is Google Research's data-oblivious vector quantizer. One algorithm covers two very different workloads: compressing the key/value cache of an LLM while it generates, and compressing a vector database index. The headline: quality-neutral KV cache at 3.5 bits per channel, and indexing that takes milliseconds instead of minutes. We'll go through the idea, the evidence, and two runnable demos.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workloads, one bottleneck. In LLM serving the KV cache grows linearly with context and with the number of concurrent sessions; for an 8B model at 128k tokens it matches the size of the model itself. In vector search the index has to fit in RAM to be fast. Both are just big piles of high-dimensional vectors where what matters is preserving inner products. That's exactly what TurboQuant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observation that started the whole line of work. If you quantize in blocks, each block needs its own min and scale stored in 16-bit floats. With groups of 32, that is 32 extra bits per 32 numbers: a full extra bit per number. At 2-bit quantization that is a 50 percent tax. TurboQuant only stores one 16-bit norm per vector, which is 0.125 bits per channel for a 128-dimensional 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papers share authors at Google Research and share one trick: apply a random transform so that, whatever the input, the transformed coordinates follow a distribution you know ahead of time. QJL used that to get 1-bit sketches. PolarQuant used it to make polar angles predictable. TurboQuant simplifies to a plain random rotation plus Lloyd-Max scalar quantization, and adds QJL on the residual when you need unbiased inner products. Note that Google's blog describes stage one as PolarQuant; in the paper's algorithm it is the rotation plus scalar quantizer, which plays the same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MSE algorithm. Random rotation is the key: after it, each coordinate of a unit vector follows a known scaled Beta distribution, which is basically a Gaussian with variance one over d. Because the distribution is known in advance, the optimal scalar quantizer, the Lloyd-Max codebook, can be computed once and reused for any data. There is nothing to learn from the data, so indexing is essentially instant and works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nearest-neighbour search and attention, what you actually need is inner products, and a quantizer that minimizes MSE is biased for inner products: it systematically underestimates them. The fix is elegant: use one bit fewer for the MSE stage, then spend the last bit on a QJL sign sketch of the residual. That estimator is provably unbiased. The cost is variance, so at higher bit widths the plain MSE version is actually more accurate. In our demo the crossover is at about 2 to 3 bits, matching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proves a matching lower bound using Shannon's source coding theorem and Yao's minimax principle: no randomized quantizer of any kind can beat four to the minus b on worst-case inputs. TurboQuant's upper bound is only a constant factor of about 2.7 above that, and at 1 bit it is 1.45. Our reference implementation reproduces the paper's numbers to the third decimal, which is a good check that the code in the demos is faithful.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LongBench, TurboQuant at 3.5 bits per channel ties the uncompressed cache exactly, and at 2.5 bits it loses about 0.6 points, while using fewer bits than KIVI or PolarQuant. Unlike KIVI and PolarQuant, it also quantizes tokens produced during generation, not just the prompt. On needle-in-a-haystack, at a quarter of the memory, it scores exactly like full precision, while token-eviction methods like SnapKV and PyramidKV miss needles. The fractional bit-widths come from splitting channels into outliers, which get one more bit, and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production data points, and they tell a nuanced story. Google's own numbers emphasize kernel speed: computing attention logits directly from 4-bit codes is up to eight times faster than reading 32-bit keys, because decode attention is bandwidth bound. vLLM's independent integration shows the practical picture: two to almost four times more KV-cache capacity, so more concurrent requests and longer contexts, but per-request throughput below BF16, and accuracy drops on hard reasoning at the most aggressive 3-bit settings. So: 4-bit with norm correction is the safe default, and evaluate before going 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vector databases, the comparison is against product quantization, which runs k-means to learn codebooks, and RaBitQ. TurboQuant has nothing to learn, so its quantization time is a matrix multiply: milliseconds versus minutes or an hour. And it still wins on recall. The paper notes that PQ was even given the advantage of training on the evaluation set. Our second demo reproduces this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hands-on part. Both notebooks share one small reference implementation, turboquant_core.py, written for readability: Lloyd-Max codebooks, the MSE and inner-product quantizers, the outlier split, real bit-packing so memory numbers are measured, a classic INT-b baseline, and a Hugging Face cache class. The LLM notebook needs a GPU runtime; the vector search one runs on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integration point is the cache object. Hugging Face transformers 5 lets you pass any Cache to generate, so TurboQuantCache simply quantizes keys and values as they are inserted and dequantizes on read. Nothing in the model changes. The notebook compares ten configurations and reports perplexity, KL divergence and top-1 agreement against the uncompressed model, plus needle retrieval. This reference version saves memory but is slower than FP16, because dequantization happens in PyTorch rather than inside a fused attention kernel.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measured byte counts from the packed tensors, including the 16-bit norms, so they are exact for this implementation. Note a subtlety: the paper calls 32 channels at 3 bits plus 96 at 2 bits "2.5 bits"; the codes alone are 2.25 bits per channel, and with the two norms it is exactly 2.5. On the right is what the compression buys for an 8B model with 8 GB set aside for the cache: about four times the context at 4 bits, almost six times at 2.5 bits. The quality numbers for Qwen are produced when you run the notebook; I have not quoted them here because they come from that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from running the vector search notebook in my sandbox, where the Hugging Face Hub was not reachable, so I used 165 thousand sentences of real text from the Reuters, Gutenberg and Brown corpora, embedded with TF-IDF plus SVD into 384 dimensions. Same protocol as the paper: 100k database vectors, 1k queries, inner-product search. At 4 bits turbovec finds the true nearest neighbour first 94 percent of the time, against 82 percent for PQ, and PQ needed 83 seconds of k-means training. turbovec is also the fastest method here, about 12 times faster than exact search. On Colab the notebook uses the paper's DBpedia OpenAI embeddings by default, where higher dimension should help TurboQuant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practical messages. First, at an equal 4-bit budget TurboQuant ranks better than every trained baseline. Second, because there is no training, you can ingest vectors as they arrive and never re-train when the data drifts: 100k vectors streamed in 0.14 seconds. Third, the classic two-stage pattern works beautifully: scan the 8x smaller index for 100 candidates, then re-score those with full-precision vectors from disk, and recall at 1 becomes perfect in our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want to adopt this: for LLM serving, 4-bit is the safe default, and the fractional settings with outlier channels are the sweet spot in the paper. Prefer the MSE quantizer for keys; the unbiased variant is great on paper but its extra variance passes through the softmax, which is probably why the production implementations use MSE with norm correction. That last point is my inference, not something the paper states. For search, turbovec is a pip install away, and with re-ranking you lose essentially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the demos takes three clicks. The LLM notebook checks the transformers version and upgrades it if Colab ships an older one; in that case restart once and run again. The vector search notebook downloads the paper's dataset; the slowest part is training the PQ baseline, which is exactly the point the paper makes.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 sources used in this deck. The two GitHub projects are community implementations: turbovec for vector search in Rust, and 0xsero's turboquant with Triton kernels and a vLLM integration for RTX 30, 40 and 50 series GPUs.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Sections 4 and 5 showed where TurboQuant shines. These are two real "find similar" features of a legal-documents platform where we tested it. Before benchmarking, ask three questions: where do the vectors live, what score does the product show, and what is really slow. Premise check: the first benchmark assumed a Qdrant provisions collection and a 0.90 cosine merge threshold; neither exists. Guide §8; case study chapter.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 truth is exact fuzz.ratio of 500 provisions against all 2,501. Share of pairs kept by floor: 30 → 70 %, 40 → 45 %, 50 → 1.6 %, 60 → 0.8 %, 70 → 0.7 %. Two unrelated long provisions already score about 38; a 500,000-provision firm at floor 30 is about 87 billion pairs (about 2 billion at 50). TurboQuant keeps cosine neighbours better than int8 or binary at each bit budget, as the paper promises, but recall of the pairs the product scores does not move: they are near-duplicates every method finds. Elasticsearch built-ins agree (top-10 overlap with exact: hnsw 0.993, int8_hnsw 0.986, int4_hnsw 0.950 / 0.996 rescored, bbq_hnsw 0.878 / 0.995 rescored), and 8.18 applies int8_hnsw by default. 12 known-answer checks (canary.py) ran first. Verdict: TurboQuant cannot help.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Verdict B: TurboQuant does not help here either. The search is well under 1 % of the request and runs in the background. Only around 200,000 memos in one firm does exact search reach a third of a second (339 ms p50; 255 ms with Qdrant int8), still well below the LLM step. TurboQuant 4-bit beats plain int8 (244 vs 1,438 dropped), but Qdrant's own quantization with rescoring drops nothing and needs no new code. What the benchmark did find: random memo pairs score 0.38 on average (p95 0.56), so the 0.5 floor lets through about 152 candidates per question. Quality depends on the re-ranker and LLM check.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Compression shrinks bytes per vector, not the number of anything. If the product score is edit distance, BM25 or a rule, vectors can only pre-filter, and a lexical pre-filter may do as well. Exact search on small filtered sets is rarely memory-bound. The known-answer checks caught bugs in the benchmark itself before it produced results.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30920"/>
            <a:ext cx="10566400" cy="893961"/>
          </a:xfrm>
          <a:prstGeom prst="rect">
            <a:avLst/>
          </a:prstGeom>
          <a:noFill/>
          <a:ln/>
        </p:spPr>
        <p:txBody>
          <a:bodyPr wrap="square" lIns="0" tIns="0" rIns="0" bIns="0" rtlCol="0" anchor="t"/>
          <a:lstStyle>
            <a:lvl1pPr algn="l" indent="0" marL="0">
              <a:lnSpc>
                <a:spcPct val="115000"/>
              </a:lnSpc>
              <a:buNone/>
              <a:defRPr lang="en-US" sz="3200" dirty="0">
                <a:solidFill>
                  <a:srgbClr val="0F1B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529681"/>
            <a:ext cx="10566400" cy="3515519"/>
          </a:xfrm>
          <a:prstGeom prst="rect">
            <a:avLst/>
          </a:prstGeom>
          <a:noFill/>
          <a:ln/>
        </p:spPr>
        <p:txBody>
          <a:bodyPr wrap="square" lIns="0" tIns="0" rIns="0" bIns="0" rtlCol="0" anchor="t"/>
          <a:lstStyle>
            <a:lvl1pPr algn="l" indent="0" marL="0">
              <a:lnSpc>
                <a:spcPct val="140000"/>
              </a:lnSpc>
              <a:buNone/>
              <a:defRPr lang="en-US" sz="1600" dirty="0">
                <a:solidFill>
                  <a:srgbClr val="0F1B2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30920"/>
            <a:ext cx="10566400" cy="893961"/>
          </a:xfrm>
          <a:prstGeom prst="rect">
            <a:avLst/>
          </a:prstGeom>
          <a:noFill/>
          <a:ln/>
        </p:spPr>
        <p:txBody>
          <a:bodyPr wrap="square" lIns="0" tIns="0" rIns="0" bIns="0" rtlCol="0" anchor="t"/>
          <a:lstStyle>
            <a:lvl1pPr algn="l" indent="0" marL="0">
              <a:lnSpc>
                <a:spcPct val="115000"/>
              </a:lnSpc>
              <a:buNone/>
              <a:defRPr lang="en-US" sz="3200" dirty="0">
                <a:solidFill>
                  <a:srgbClr val="0F1B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529681"/>
            <a:ext cx="10566400" cy="3515519"/>
          </a:xfrm>
          <a:prstGeom prst="rect">
            <a:avLst/>
          </a:prstGeom>
          <a:noFill/>
          <a:ln/>
        </p:spPr>
        <p:txBody>
          <a:bodyPr wrap="square" lIns="0" tIns="0" rIns="0" bIns="0" rtlCol="0" anchor="t"/>
          <a:lstStyle>
            <a:lvl1pPr algn="l" indent="0" marL="0">
              <a:lnSpc>
                <a:spcPct val="140000"/>
              </a:lnSpc>
              <a:buNone/>
              <a:defRPr lang="en-US" sz="1600" dirty="0">
                <a:solidFill>
                  <a:srgbClr val="0F1B2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research.google/blog/turboquant-redefining-ai-efficiency-with-extreme-compression/" TargetMode="External"/><Relationship Id="rId2" Type="http://schemas.openxmlformats.org/officeDocument/2006/relationships/hyperlink" Target="https://vllm.ai/blog/2026-05-11-turboquant" TargetMode="External"/><Relationship Id="rId3" Type="http://schemas.openxmlformats.org/officeDocument/2006/relationships/hyperlink" Target="https://github.com/ryancodrai/turbovec" TargetMode="External"/><Relationship Id="rId4" Type="http://schemas.openxmlformats.org/officeDocument/2006/relationships/hyperlink" Target="https://github.com/0xsero/turboquant" TargetMode="External"/><Relationship Id="rId5" Type="http://schemas.openxmlformats.org/officeDocument/2006/relationships/hyperlink" Target="https://medium.com/@tahirbalarabe2/turboquant-vs-traditional-quantization-eliminating-memory-overhead-in-llms-24524af4adb8" TargetMode="External"/><Relationship Id="rId6" Type="http://schemas.openxmlformats.org/officeDocument/2006/relationships/slideLayout" Target="../slideLayouts/slideLayout2.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2A35E"/>
          </a:solidFill>
          <a:ln/>
        </p:spPr>
      </p:sp>
      <p:sp>
        <p:nvSpPr>
          <p:cNvPr id="3" name="Text 1"/>
          <p:cNvSpPr/>
          <p:nvPr/>
        </p:nvSpPr>
        <p:spPr>
          <a:xfrm>
            <a:off x="812800" y="18847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F2A35E"/>
                </a:solidFill>
                <a:latin typeface="JetBrains Mono" pitchFamily="49" charset="0"/>
                <a:ea typeface="JetBrains Mono" pitchFamily="49" charset="-122"/>
                <a:cs typeface="JetBrains Mono" pitchFamily="49" charset="-120"/>
              </a:rPr>
              <a:t>GOOGLE RESEARCH · ARXIV 2504.19874</a:t>
            </a:r>
            <a:endParaRPr lang="en-US" sz="1400" dirty="0"/>
          </a:p>
        </p:txBody>
      </p:sp>
      <p:sp>
        <p:nvSpPr>
          <p:cNvPr id="4" name="Text 2"/>
          <p:cNvSpPr/>
          <p:nvPr>
            <p:ph type="title"/>
          </p:nvPr>
        </p:nvSpPr>
        <p:spPr>
          <a:xfrm>
            <a:off x="812800" y="2387600"/>
            <a:ext cx="10883392" cy="939800"/>
          </a:xfrm>
          <a:prstGeom prst="rect">
            <a:avLst/>
          </a:prstGeom>
          <a:noFill/>
          <a:ln/>
        </p:spPr>
        <p:txBody>
          <a:bodyPr wrap="square" lIns="0" tIns="0" rIns="0" bIns="0" rtlCol="0" anchor="t">
            <a:normAutofit/>
          </a:bodyPr>
          <a:lstStyle/>
          <a:p>
            <a:pPr algn="l" indent="0" marL="0">
              <a:lnSpc>
                <a:spcPts val="7200"/>
              </a:lnSpc>
              <a:buNone/>
            </a:pPr>
            <a:r>
              <a:rPr lang="en-US" sz="7200" b="1" i="0" dirty="0">
                <a:solidFill>
                  <a:srgbClr val="F6F5F0"/>
                </a:solidFill>
                <a:latin typeface="IBM Plex Sans" pitchFamily="34" charset="0"/>
                <a:ea typeface="IBM Plex Sans" pitchFamily="34" charset="-122"/>
                <a:cs typeface="IBM Plex Sans" pitchFamily="34" charset="-120"/>
              </a:rPr>
              <a:t>TurboQuant</a:t>
            </a:r>
            <a:endParaRPr lang="en-US" sz="7200" dirty="0"/>
          </a:p>
        </p:txBody>
      </p:sp>
      <p:sp>
        <p:nvSpPr>
          <p:cNvPr id="5" name="Text 3"/>
          <p:cNvSpPr/>
          <p:nvPr/>
        </p:nvSpPr>
        <p:spPr>
          <a:xfrm>
            <a:off x="812800" y="3556000"/>
            <a:ext cx="9156700" cy="787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D9DEE6"/>
                </a:solidFill>
                <a:latin typeface="IBM Plex Sans" pitchFamily="34" charset="0"/>
                <a:ea typeface="IBM Plex Sans" pitchFamily="34" charset="-122"/>
                <a:cs typeface="IBM Plex Sans" pitchFamily="34" charset="-120"/>
              </a:rPr>
              <a:t>Near-optimal vector compression for LLM KV caches and vector search, with no training and no calibration</a:t>
            </a:r>
            <a:endParaRPr lang="en-US" sz="2400" dirty="0"/>
          </a:p>
        </p:txBody>
      </p:sp>
      <p:sp>
        <p:nvSpPr>
          <p:cNvPr id="6" name="Text 4"/>
          <p:cNvSpPr/>
          <p:nvPr/>
        </p:nvSpPr>
        <p:spPr>
          <a:xfrm>
            <a:off x="812800" y="4572000"/>
            <a:ext cx="2955627" cy="401241"/>
          </a:xfrm>
          <a:prstGeom prst="roundRect">
            <a:avLst>
              <a:gd name="adj" fmla="val 50000"/>
            </a:avLst>
          </a:prstGeom>
          <a:solidFill>
            <a:srgbClr val="1E2F48"/>
          </a:solidFill>
          <a:ln/>
        </p:spPr>
        <p:txBody>
          <a:bodyPr wrap="none" lIns="0" tIns="0" rIns="0" bIns="0" rtlCol="0" anchor="ctr">
            <a:normAutofit/>
          </a:bodyPr>
          <a:lstStyle/>
          <a:p>
            <a:pPr algn="ctr" indent="0" marL="0">
              <a:lnSpc>
                <a:spcPts val="1960"/>
              </a:lnSpc>
              <a:buNone/>
            </a:pPr>
            <a:r>
              <a:rPr lang="en-US" sz="1400" dirty="0">
                <a:solidFill>
                  <a:srgbClr val="F6F5F0"/>
                </a:solidFill>
                <a:latin typeface="IBM Plex Sans" pitchFamily="34" charset="0"/>
                <a:ea typeface="IBM Plex Sans" pitchFamily="34" charset="-122"/>
                <a:cs typeface="IBM Plex Sans" pitchFamily="34" charset="-120"/>
              </a:rPr>
              <a:t>3.5 bits: quality-neutral KV cache</a:t>
            </a:r>
            <a:endParaRPr lang="en-US" sz="1400" dirty="0"/>
          </a:p>
        </p:txBody>
      </p:sp>
      <p:sp>
        <p:nvSpPr>
          <p:cNvPr id="7" name="Text 5"/>
          <p:cNvSpPr/>
          <p:nvPr/>
        </p:nvSpPr>
        <p:spPr>
          <a:xfrm>
            <a:off x="3920827" y="4572000"/>
            <a:ext cx="1362273" cy="401241"/>
          </a:xfrm>
          <a:prstGeom prst="roundRect">
            <a:avLst>
              <a:gd name="adj" fmla="val 50000"/>
            </a:avLst>
          </a:prstGeom>
          <a:solidFill>
            <a:srgbClr val="1E2F48"/>
          </a:solidFill>
          <a:ln/>
        </p:spPr>
        <p:txBody>
          <a:bodyPr wrap="none" lIns="0" tIns="0" rIns="0" bIns="0" rtlCol="0" anchor="ctr">
            <a:normAutofit/>
          </a:bodyPr>
          <a:lstStyle/>
          <a:p>
            <a:pPr algn="ctr" indent="0" marL="0">
              <a:lnSpc>
                <a:spcPts val="1960"/>
              </a:lnSpc>
              <a:buNone/>
            </a:pPr>
            <a:r>
              <a:rPr lang="en-US" sz="1400" dirty="0">
                <a:solidFill>
                  <a:srgbClr val="F6F5F0"/>
                </a:solidFill>
                <a:latin typeface="IBM Plex Sans" pitchFamily="34" charset="0"/>
                <a:ea typeface="IBM Plex Sans" pitchFamily="34" charset="-122"/>
                <a:cs typeface="IBM Plex Sans" pitchFamily="34" charset="-120"/>
              </a:rPr>
              <a:t>~0 s indexing</a:t>
            </a:r>
            <a:endParaRPr lang="en-US" sz="1400" dirty="0"/>
          </a:p>
        </p:txBody>
      </p:sp>
      <p:sp>
        <p:nvSpPr>
          <p:cNvPr id="8" name="Text 6"/>
          <p:cNvSpPr/>
          <p:nvPr/>
        </p:nvSpPr>
        <p:spPr>
          <a:xfrm>
            <a:off x="5435501" y="4572000"/>
            <a:ext cx="1493937" cy="401241"/>
          </a:xfrm>
          <a:prstGeom prst="roundRect">
            <a:avLst>
              <a:gd name="adj" fmla="val 50000"/>
            </a:avLst>
          </a:prstGeom>
          <a:solidFill>
            <a:srgbClr val="1E2F48"/>
          </a:solidFill>
          <a:ln/>
        </p:spPr>
        <p:txBody>
          <a:bodyPr wrap="none" lIns="0" tIns="0" rIns="0" bIns="0" rtlCol="0" anchor="ctr">
            <a:normAutofit/>
          </a:bodyPr>
          <a:lstStyle/>
          <a:p>
            <a:pPr algn="ctr" indent="0" marL="0">
              <a:lnSpc>
                <a:spcPts val="1960"/>
              </a:lnSpc>
              <a:buNone/>
            </a:pPr>
            <a:r>
              <a:rPr lang="en-US" sz="1400" dirty="0">
                <a:solidFill>
                  <a:srgbClr val="F6F5F0"/>
                </a:solidFill>
                <a:latin typeface="IBM Plex Sans" pitchFamily="34" charset="0"/>
                <a:ea typeface="IBM Plex Sans" pitchFamily="34" charset="-122"/>
                <a:cs typeface="IBM Plex Sans" pitchFamily="34" charset="-120"/>
              </a:rPr>
              <a:t>2 Colab demos</a:t>
            </a:r>
            <a:endParaRPr lang="en-US" sz="1400" dirty="0"/>
          </a:p>
        </p:txBody>
      </p:sp>
      <p:sp>
        <p:nvSpPr>
          <p:cNvPr id="9" name="Text 7"/>
          <p:cNvSpPr/>
          <p:nvPr/>
        </p:nvSpPr>
        <p:spPr>
          <a:xfrm>
            <a:off x="812800" y="6238280"/>
            <a:ext cx="1046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8"/>
                </a:solidFill>
                <a:latin typeface="IBM Plex Sans" pitchFamily="34" charset="0"/>
                <a:ea typeface="IBM Plex Sans" pitchFamily="34" charset="-122"/>
                <a:cs typeface="IBM Plex Sans" pitchFamily="34" charset="-120"/>
              </a:rPr>
              <a:t>Zandieh, Daliri, Hadian, Mirrokni · builds on QJL (2406.03482) and PolarQuant (2502.02617)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21A"/>
                </a:solidFill>
                <a:latin typeface="JetBrains Mono" pitchFamily="49" charset="0"/>
                <a:ea typeface="JetBrains Mono" pitchFamily="49" charset="-122"/>
                <a:cs typeface="JetBrains Mono" pitchFamily="49" charset="-120"/>
              </a:rPr>
              <a:t>THE PROBLEM</a:t>
            </a:r>
            <a:endParaRPr lang="en-US" sz="1200" dirty="0"/>
          </a:p>
        </p:txBody>
      </p:sp>
      <p:sp>
        <p:nvSpPr>
          <p:cNvPr id="3" name="Text 1"/>
          <p:cNvSpPr/>
          <p:nvPr>
            <p:ph type="title"/>
          </p:nvPr>
        </p:nvSpPr>
        <p:spPr>
          <a:xfrm>
            <a:off x="812800" y="13309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Memory, not compute, limits long context and large indexes</a:t>
            </a:r>
            <a:endParaRPr lang="en-US" sz="3200" dirty="0"/>
          </a:p>
        </p:txBody>
      </p:sp>
      <p:sp>
        <p:nvSpPr>
          <p:cNvPr id="4" name="Shape 2"/>
          <p:cNvSpPr/>
          <p:nvPr/>
        </p:nvSpPr>
        <p:spPr>
          <a:xfrm>
            <a:off x="815975" y="2532856"/>
            <a:ext cx="5175250" cy="3305969"/>
          </a:xfrm>
          <a:prstGeom prst="roundRect">
            <a:avLst>
              <a:gd name="adj" fmla="val 2977"/>
            </a:avLst>
          </a:prstGeom>
          <a:solidFill>
            <a:srgbClr val="FDFCF9"/>
          </a:solidFill>
          <a:ln w="6350">
            <a:solidFill>
              <a:srgbClr val="E2DFD6"/>
            </a:solidFill>
            <a:prstDash val="solid"/>
          </a:ln>
        </p:spPr>
      </p:sp>
      <p:sp>
        <p:nvSpPr>
          <p:cNvPr id="5" name="Text 3"/>
          <p:cNvSpPr/>
          <p:nvPr/>
        </p:nvSpPr>
        <p:spPr>
          <a:xfrm>
            <a:off x="1123950" y="2840831"/>
            <a:ext cx="46960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JetBrains Mono" pitchFamily="49" charset="0"/>
                <a:ea typeface="JetBrains Mono" pitchFamily="49" charset="-122"/>
                <a:cs typeface="JetBrains Mono" pitchFamily="49" charset="-120"/>
              </a:rPr>
              <a:t>LLM KV CACHE · LLAMA-3.1-8B, FP16</a:t>
            </a:r>
            <a:endParaRPr lang="en-US" sz="1200" dirty="0"/>
          </a:p>
        </p:txBody>
      </p:sp>
      <p:sp>
        <p:nvSpPr>
          <p:cNvPr id="6" name="Text 4"/>
          <p:cNvSpPr/>
          <p:nvPr/>
        </p:nvSpPr>
        <p:spPr>
          <a:xfrm>
            <a:off x="1123950" y="3181152"/>
            <a:ext cx="4696079"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F1B2D"/>
                </a:solidFill>
                <a:latin typeface="IBM Plex Sans" pitchFamily="34" charset="0"/>
                <a:ea typeface="IBM Plex Sans" pitchFamily="34" charset="-122"/>
                <a:cs typeface="IBM Plex Sans" pitchFamily="34" charset="-120"/>
              </a:rPr>
              <a:t>128 KB</a:t>
            </a:r>
            <a:endParaRPr lang="en-US" sz="4800" dirty="0"/>
          </a:p>
        </p:txBody>
      </p:sp>
      <p:sp>
        <p:nvSpPr>
          <p:cNvPr id="7" name="Text 5"/>
          <p:cNvSpPr/>
          <p:nvPr/>
        </p:nvSpPr>
        <p:spPr>
          <a:xfrm>
            <a:off x="1123950" y="3917752"/>
            <a:ext cx="4696079"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4556"/>
                </a:solidFill>
                <a:latin typeface="IBM Plex Sans" pitchFamily="34" charset="0"/>
                <a:ea typeface="IBM Plex Sans" pitchFamily="34" charset="-122"/>
                <a:cs typeface="IBM Plex Sans" pitchFamily="34" charset="-120"/>
              </a:rPr>
              <a:t>per token (32 layers × 8 KV heads × 128 dims × K and V × 2 bytes). A 128k-token context needs </a:t>
            </a:r>
            <a:r>
              <a:rPr lang="en-US" sz="1600" b="1" dirty="0">
                <a:solidFill>
                  <a:srgbClr val="3A4556"/>
                </a:solidFill>
                <a:latin typeface="IBM Plex Sans" pitchFamily="34" charset="0"/>
                <a:ea typeface="IBM Plex Sans" pitchFamily="34" charset="-122"/>
                <a:cs typeface="IBM Plex Sans" pitchFamily="34" charset="-120"/>
              </a:rPr>
              <a:t>16 GB</a:t>
            </a:r>
            <a:r>
              <a:rPr lang="en-US" sz="1600" dirty="0">
                <a:solidFill>
                  <a:srgbClr val="3A4556"/>
                </a:solidFill>
                <a:latin typeface="IBM Plex Sans" pitchFamily="34" charset="0"/>
                <a:ea typeface="IBM Plex Sans" pitchFamily="34" charset="-122"/>
                <a:cs typeface="IBM Plex Sans" pitchFamily="34" charset="-120"/>
              </a:rPr>
              <a:t>, as much as the weights, and every generated token re-reads all of it.</a:t>
            </a:r>
            <a:endParaRPr lang="en-US" sz="1600" dirty="0"/>
          </a:p>
        </p:txBody>
      </p:sp>
      <p:sp>
        <p:nvSpPr>
          <p:cNvPr id="8" name="Shape 6"/>
          <p:cNvSpPr/>
          <p:nvPr/>
        </p:nvSpPr>
        <p:spPr>
          <a:xfrm>
            <a:off x="6200775" y="2532856"/>
            <a:ext cx="5175250" cy="3305969"/>
          </a:xfrm>
          <a:prstGeom prst="roundRect">
            <a:avLst>
              <a:gd name="adj" fmla="val 2977"/>
            </a:avLst>
          </a:prstGeom>
          <a:solidFill>
            <a:srgbClr val="FDFCF9"/>
          </a:solidFill>
          <a:ln w="6350">
            <a:solidFill>
              <a:srgbClr val="E2DFD6"/>
            </a:solidFill>
            <a:prstDash val="solid"/>
          </a:ln>
        </p:spPr>
      </p:sp>
      <p:sp>
        <p:nvSpPr>
          <p:cNvPr id="9" name="Text 7"/>
          <p:cNvSpPr/>
          <p:nvPr/>
        </p:nvSpPr>
        <p:spPr>
          <a:xfrm>
            <a:off x="6508750" y="2840831"/>
            <a:ext cx="46960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JetBrains Mono" pitchFamily="49" charset="0"/>
                <a:ea typeface="JetBrains Mono" pitchFamily="49" charset="-122"/>
                <a:cs typeface="JetBrains Mono" pitchFamily="49" charset="-120"/>
              </a:rPr>
              <a:t>VECTOR INDEX · 1M × 1536-D FLOAT32</a:t>
            </a:r>
            <a:endParaRPr lang="en-US" sz="1200" dirty="0"/>
          </a:p>
        </p:txBody>
      </p:sp>
      <p:sp>
        <p:nvSpPr>
          <p:cNvPr id="10" name="Text 8"/>
          <p:cNvSpPr/>
          <p:nvPr/>
        </p:nvSpPr>
        <p:spPr>
          <a:xfrm>
            <a:off x="6508750" y="3181152"/>
            <a:ext cx="4696079"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F1B2D"/>
                </a:solidFill>
                <a:latin typeface="IBM Plex Sans" pitchFamily="34" charset="0"/>
                <a:ea typeface="IBM Plex Sans" pitchFamily="34" charset="-122"/>
                <a:cs typeface="IBM Plex Sans" pitchFamily="34" charset="-120"/>
              </a:rPr>
              <a:t>6.1 GB</a:t>
            </a:r>
            <a:endParaRPr lang="en-US" sz="4800" dirty="0"/>
          </a:p>
        </p:txBody>
      </p:sp>
      <p:sp>
        <p:nvSpPr>
          <p:cNvPr id="11" name="Text 9"/>
          <p:cNvSpPr/>
          <p:nvPr/>
        </p:nvSpPr>
        <p:spPr>
          <a:xfrm>
            <a:off x="6508750" y="3917752"/>
            <a:ext cx="4696079"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4556"/>
                </a:solidFill>
                <a:latin typeface="IBM Plex Sans" pitchFamily="34" charset="0"/>
                <a:ea typeface="IBM Plex Sans" pitchFamily="34" charset="-122"/>
                <a:cs typeface="IBM Plex Sans" pitchFamily="34" charset="-120"/>
              </a:rPr>
              <a:t>for one million OpenAI-size embeddings. Product quantization shrinks it, but must train codebooks first and re-train when the data drifts.</a:t>
            </a:r>
            <a:endParaRPr lang="en-US" sz="16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Decode attention is memory-bandwidth bound: fewer bytes per token means more context, more concurrent users, and faster attention.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21A"/>
                </a:solidFill>
                <a:latin typeface="JetBrains Mono" pitchFamily="49" charset="0"/>
                <a:ea typeface="JetBrains Mono" pitchFamily="49" charset="-122"/>
                <a:cs typeface="JetBrains Mono" pitchFamily="49" charset="-120"/>
              </a:rPr>
              <a:t>THE HIDDEN TAX</a:t>
            </a:r>
            <a:endParaRPr lang="en-US" sz="1200" dirty="0"/>
          </a:p>
        </p:txBody>
      </p:sp>
      <p:sp>
        <p:nvSpPr>
          <p:cNvPr id="3" name="Text 1"/>
          <p:cNvSpPr/>
          <p:nvPr>
            <p:ph type="title"/>
          </p:nvPr>
        </p:nvSpPr>
        <p:spPr>
          <a:xfrm>
            <a:off x="812800" y="13309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Classic quantization pays up to 1 extra bit per number for scales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542381"/>
          <a:ext cx="6896100" cy="2476500"/>
        </p:xfrm>
        <a:graphic>
          <a:graphicData uri="http://schemas.openxmlformats.org/drawingml/2006/table">
            <a:tbl>
              <a:tblPr/>
              <a:tblGrid>
                <a:gridCol w="3585972"/>
                <a:gridCol w="1103376"/>
                <a:gridCol w="1103376"/>
                <a:gridCol w="1103376"/>
              </a:tblGrid>
              <a:tr h="412750">
                <a:tc>
                  <a:txBody>
                    <a:bodyPr/>
                    <a:lstStyle/>
                    <a:p>
                      <a:pPr indent="0" marL="0">
                        <a:lnSpc>
                          <a:spcPts val="2100"/>
                        </a:lnSpc>
                        <a:buNone/>
                      </a:pPr>
                      <a:r>
                        <a:rPr lang="en-US" sz="1500" b="1" dirty="0">
                          <a:solidFill>
                            <a:srgbClr val="1B2433"/>
                          </a:solidFill>
                          <a:latin typeface="IBM Plex Sans" pitchFamily="34" charset="0"/>
                          <a:ea typeface="IBM Plex Sans" pitchFamily="34" charset="-122"/>
                          <a:cs typeface="IBM Plex Sans" pitchFamily="34" charset="-120"/>
                        </a:rPr>
                        <a:t>Scheme, one 128-d head vector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100"/>
                        </a:lnSpc>
                        <a:buNone/>
                      </a:pPr>
                      <a:r>
                        <a:rPr lang="en-US" sz="1500" b="1" dirty="0">
                          <a:solidFill>
                            <a:srgbClr val="1B2433"/>
                          </a:solidFill>
                          <a:latin typeface="IBM Plex Sans" pitchFamily="34" charset="0"/>
                          <a:ea typeface="IBM Plex Sans" pitchFamily="34" charset="-122"/>
                          <a:cs typeface="IBM Plex Sans" pitchFamily="34" charset="-120"/>
                        </a:rPr>
                        <a:t>Code bits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100"/>
                        </a:lnSpc>
                        <a:buNone/>
                      </a:pPr>
                      <a:r>
                        <a:rPr lang="en-US" sz="1500" b="1" dirty="0">
                          <a:solidFill>
                            <a:srgbClr val="1B2433"/>
                          </a:solidFill>
                          <a:latin typeface="IBM Plex Sans" pitchFamily="34" charset="0"/>
                          <a:ea typeface="IBM Plex Sans" pitchFamily="34" charset="-122"/>
                          <a:cs typeface="IBM Plex Sans" pitchFamily="34" charset="-120"/>
                        </a:rPr>
                        <a:t>Overhead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100"/>
                        </a:lnSpc>
                        <a:buNone/>
                      </a:pPr>
                      <a:r>
                        <a:rPr lang="en-US" sz="1500" b="1" dirty="0">
                          <a:solidFill>
                            <a:srgbClr val="1B2433"/>
                          </a:solidFill>
                          <a:latin typeface="IBM Plex Sans" pitchFamily="34" charset="0"/>
                          <a:ea typeface="IBM Plex Sans" pitchFamily="34" charset="-122"/>
                          <a:cs typeface="IBM Plex Sans" pitchFamily="34" charset="-120"/>
                        </a:rPr>
                        <a:t>Effective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41275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FP16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16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16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INT4, fp16 scale + zero per 32 ch</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1.0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5.0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INT2, fp16 scale + zero per 32 ch</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1.0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3.0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TurboQuant 4-bit (one fp16 norm)</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0.125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4.125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r h="41275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TurboQuant 2-bit (one fp16 norm)</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0.125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2.125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bl>
          </a:graphicData>
        </a:graphic>
      </p:graphicFrame>
      <p:sp>
        <p:nvSpPr>
          <p:cNvPr id="5" name="Shape 2"/>
          <p:cNvSpPr/>
          <p:nvPr/>
        </p:nvSpPr>
        <p:spPr>
          <a:xfrm>
            <a:off x="8077200" y="2529681"/>
            <a:ext cx="3302000" cy="3012281"/>
          </a:xfrm>
          <a:prstGeom prst="roundRect">
            <a:avLst>
              <a:gd name="adj" fmla="val 3373"/>
            </a:avLst>
          </a:prstGeom>
          <a:solidFill>
            <a:srgbClr val="0F1B2D"/>
          </a:solidFill>
          <a:ln/>
        </p:spPr>
      </p:sp>
      <p:sp>
        <p:nvSpPr>
          <p:cNvPr id="6" name="Text 3"/>
          <p:cNvSpPr/>
          <p:nvPr/>
        </p:nvSpPr>
        <p:spPr>
          <a:xfrm>
            <a:off x="8382000" y="2834481"/>
            <a:ext cx="2773172" cy="14477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5F0"/>
                </a:solidFill>
                <a:latin typeface="IBM Plex Sans" pitchFamily="34" charset="0"/>
                <a:ea typeface="IBM Plex Sans" pitchFamily="34" charset="-122"/>
                <a:cs typeface="IBM Plex Sans" pitchFamily="34" charset="-120"/>
              </a:rPr>
              <a:t>Block quantizers must store a zero point and a scale </a:t>
            </a:r>
            <a:r>
              <a:rPr lang="en-US" sz="1600" b="1" dirty="0">
                <a:solidFill>
                  <a:srgbClr val="F6F5F0"/>
                </a:solidFill>
                <a:latin typeface="IBM Plex Sans" pitchFamily="34" charset="0"/>
                <a:ea typeface="IBM Plex Sans" pitchFamily="34" charset="-122"/>
                <a:cs typeface="IBM Plex Sans" pitchFamily="34" charset="-120"/>
              </a:rPr>
              <a:t>in full precision</a:t>
            </a:r>
            <a:r>
              <a:rPr lang="en-US" sz="1600" dirty="0">
                <a:solidFill>
                  <a:srgbClr val="F6F5F0"/>
                </a:solidFill>
                <a:latin typeface="IBM Plex Sans" pitchFamily="34" charset="0"/>
                <a:ea typeface="IBM Plex Sans" pitchFamily="34" charset="-122"/>
                <a:cs typeface="IBM Plex Sans" pitchFamily="34" charset="-120"/>
              </a:rPr>
              <a:t> for every block, because each block has its own range.</a:t>
            </a:r>
            <a:endParaRPr lang="en-US" sz="1600" dirty="0"/>
          </a:p>
        </p:txBody>
      </p:sp>
      <p:sp>
        <p:nvSpPr>
          <p:cNvPr id="7" name="Text 4"/>
          <p:cNvSpPr/>
          <p:nvPr/>
        </p:nvSpPr>
        <p:spPr>
          <a:xfrm>
            <a:off x="8382000" y="4383782"/>
            <a:ext cx="2773172"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2A35E"/>
                </a:solidFill>
                <a:latin typeface="IBM Plex Sans" pitchFamily="34" charset="0"/>
                <a:ea typeface="IBM Plex Sans" pitchFamily="34" charset="-122"/>
                <a:cs typeface="IBM Plex Sans" pitchFamily="34" charset="-120"/>
              </a:rPr>
              <a:t>TurboQuant makes every block's range the same, so it needs no scales at all.</a:t>
            </a:r>
            <a:endParaRPr lang="en-US" sz="16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Overhead as described in QJL (2406.03482) and PolarQuant (2502.02617); TurboQuant figures measured from the demo's bit-packed storage.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21A"/>
                </a:solidFill>
                <a:latin typeface="JetBrains Mono" pitchFamily="49" charset="0"/>
                <a:ea typeface="JetBrains Mono" pitchFamily="49" charset="-122"/>
                <a:cs typeface="JetBrains Mono" pitchFamily="49" charset="-120"/>
              </a:rPr>
              <a:t>THREE PAPERS, ONE IDEA</a:t>
            </a:r>
            <a:endParaRPr lang="en-US" sz="1200" dirty="0"/>
          </a:p>
        </p:txBody>
      </p:sp>
      <p:sp>
        <p:nvSpPr>
          <p:cNvPr id="3" name="Text 1"/>
          <p:cNvSpPr/>
          <p:nvPr>
            <p:ph type="title"/>
          </p:nvPr>
        </p:nvSpPr>
        <p:spPr>
          <a:xfrm>
            <a:off x="812800" y="13309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Randomize first, so the data's distribution is known in advance</a:t>
            </a:r>
            <a:endParaRPr lang="en-US" sz="3200" dirty="0"/>
          </a:p>
        </p:txBody>
      </p:sp>
      <p:sp>
        <p:nvSpPr>
          <p:cNvPr id="4" name="Shape 2"/>
          <p:cNvSpPr/>
          <p:nvPr/>
        </p:nvSpPr>
        <p:spPr>
          <a:xfrm>
            <a:off x="815975" y="2532856"/>
            <a:ext cx="3384550" cy="2759174"/>
          </a:xfrm>
          <a:prstGeom prst="roundRect">
            <a:avLst>
              <a:gd name="adj" fmla="val 3567"/>
            </a:avLst>
          </a:prstGeom>
          <a:solidFill>
            <a:srgbClr val="FDFCF9"/>
          </a:solidFill>
          <a:ln w="6350">
            <a:solidFill>
              <a:srgbClr val="E2DFD6"/>
            </a:solidFill>
            <a:prstDash val="solid"/>
          </a:ln>
        </p:spPr>
      </p:sp>
      <p:sp>
        <p:nvSpPr>
          <p:cNvPr id="5" name="Text 3"/>
          <p:cNvSpPr/>
          <p:nvPr/>
        </p:nvSpPr>
        <p:spPr>
          <a:xfrm>
            <a:off x="1073150" y="2790031"/>
            <a:ext cx="29563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JetBrains Mono" pitchFamily="49" charset="0"/>
                <a:ea typeface="JetBrains Mono" pitchFamily="49" charset="-122"/>
                <a:cs typeface="JetBrains Mono" pitchFamily="49" charset="-120"/>
              </a:rPr>
              <a:t>JUN 2024 · 2406.03482</a:t>
            </a:r>
            <a:endParaRPr lang="en-US" sz="1200" dirty="0"/>
          </a:p>
        </p:txBody>
      </p:sp>
      <p:sp>
        <p:nvSpPr>
          <p:cNvPr id="6" name="Text 4"/>
          <p:cNvSpPr/>
          <p:nvPr/>
        </p:nvSpPr>
        <p:spPr>
          <a:xfrm>
            <a:off x="1073150" y="3104952"/>
            <a:ext cx="295630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F1B2D"/>
                </a:solidFill>
                <a:latin typeface="IBM Plex Sans" pitchFamily="34" charset="0"/>
                <a:ea typeface="IBM Plex Sans" pitchFamily="34" charset="-122"/>
                <a:cs typeface="IBM Plex Sans" pitchFamily="34" charset="-120"/>
              </a:rPr>
              <a:t>QJL</a:t>
            </a:r>
            <a:endParaRPr lang="en-US" sz="2200" dirty="0"/>
          </a:p>
        </p:txBody>
      </p:sp>
      <p:sp>
        <p:nvSpPr>
          <p:cNvPr id="7" name="Text 5"/>
          <p:cNvSpPr/>
          <p:nvPr/>
        </p:nvSpPr>
        <p:spPr>
          <a:xfrm>
            <a:off x="1073150" y="3541812"/>
            <a:ext cx="2956306" cy="151844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Johnson-Lindenstrauss projection, keep only the sign bit. An asymmetric estimator gives unbiased inner products with zero overhead. 3-bit KV cache, over 5x less memory.</a:t>
            </a:r>
            <a:endParaRPr lang="en-US" sz="1400" dirty="0"/>
          </a:p>
        </p:txBody>
      </p:sp>
      <p:sp>
        <p:nvSpPr>
          <p:cNvPr id="8" name="Shape 6"/>
          <p:cNvSpPr/>
          <p:nvPr/>
        </p:nvSpPr>
        <p:spPr>
          <a:xfrm>
            <a:off x="4410075" y="2532856"/>
            <a:ext cx="3384550" cy="2759174"/>
          </a:xfrm>
          <a:prstGeom prst="roundRect">
            <a:avLst>
              <a:gd name="adj" fmla="val 3567"/>
            </a:avLst>
          </a:prstGeom>
          <a:solidFill>
            <a:srgbClr val="FDFCF9"/>
          </a:solidFill>
          <a:ln w="6350">
            <a:solidFill>
              <a:srgbClr val="E2DFD6"/>
            </a:solidFill>
            <a:prstDash val="solid"/>
          </a:ln>
        </p:spPr>
      </p:sp>
      <p:sp>
        <p:nvSpPr>
          <p:cNvPr id="9" name="Text 7"/>
          <p:cNvSpPr/>
          <p:nvPr/>
        </p:nvSpPr>
        <p:spPr>
          <a:xfrm>
            <a:off x="4667250" y="2790031"/>
            <a:ext cx="29563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JetBrains Mono" pitchFamily="49" charset="0"/>
                <a:ea typeface="JetBrains Mono" pitchFamily="49" charset="-122"/>
                <a:cs typeface="JetBrains Mono" pitchFamily="49" charset="-120"/>
              </a:rPr>
              <a:t>FEB 2025 · 2502.02617</a:t>
            </a:r>
            <a:endParaRPr lang="en-US" sz="1200" dirty="0"/>
          </a:p>
        </p:txBody>
      </p:sp>
      <p:sp>
        <p:nvSpPr>
          <p:cNvPr id="10" name="Text 8"/>
          <p:cNvSpPr/>
          <p:nvPr/>
        </p:nvSpPr>
        <p:spPr>
          <a:xfrm>
            <a:off x="4667250" y="3104952"/>
            <a:ext cx="295630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F1B2D"/>
                </a:solidFill>
                <a:latin typeface="IBM Plex Sans" pitchFamily="34" charset="0"/>
                <a:ea typeface="IBM Plex Sans" pitchFamily="34" charset="-122"/>
                <a:cs typeface="IBM Plex Sans" pitchFamily="34" charset="-120"/>
              </a:rPr>
              <a:t>PolarQuant</a:t>
            </a:r>
            <a:endParaRPr lang="en-US" sz="2200" dirty="0"/>
          </a:p>
        </p:txBody>
      </p:sp>
      <p:sp>
        <p:nvSpPr>
          <p:cNvPr id="11" name="Text 9"/>
          <p:cNvSpPr/>
          <p:nvPr/>
        </p:nvSpPr>
        <p:spPr>
          <a:xfrm>
            <a:off x="4667250" y="3541812"/>
            <a:ext cx="2956306" cy="151844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6"/>
                </a:solidFill>
                <a:latin typeface="IBM Plex Sans" pitchFamily="34" charset="0"/>
                <a:ea typeface="IBM Plex Sans" pitchFamily="34" charset="-122"/>
                <a:cs typeface="IBM Plex Sans" pitchFamily="34" charset="-120"/>
              </a:rPr>
              <a:t>Random preconditioning, then a recursive polar transform. The angles follow a tight, analytically known distribution, so no normalization is needed. Over 4.2x KV compression.</a:t>
            </a:r>
            <a:endParaRPr lang="en-US" sz="1400" dirty="0"/>
          </a:p>
        </p:txBody>
      </p:sp>
      <p:sp>
        <p:nvSpPr>
          <p:cNvPr id="12" name="Shape 10"/>
          <p:cNvSpPr/>
          <p:nvPr/>
        </p:nvSpPr>
        <p:spPr>
          <a:xfrm>
            <a:off x="8001000" y="2529681"/>
            <a:ext cx="3378200" cy="2765524"/>
          </a:xfrm>
          <a:prstGeom prst="roundRect">
            <a:avLst>
              <a:gd name="adj" fmla="val 3674"/>
            </a:avLst>
          </a:prstGeom>
          <a:solidFill>
            <a:srgbClr val="0F1B2D"/>
          </a:solidFill>
          <a:ln/>
        </p:spPr>
      </p:sp>
      <p:sp>
        <p:nvSpPr>
          <p:cNvPr id="13" name="Text 11"/>
          <p:cNvSpPr/>
          <p:nvPr/>
        </p:nvSpPr>
        <p:spPr>
          <a:xfrm>
            <a:off x="8255000" y="2783681"/>
            <a:ext cx="29563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5E"/>
                </a:solidFill>
                <a:latin typeface="JetBrains Mono" pitchFamily="49" charset="0"/>
                <a:ea typeface="JetBrains Mono" pitchFamily="49" charset="-122"/>
                <a:cs typeface="JetBrains Mono" pitchFamily="49" charset="-120"/>
              </a:rPr>
              <a:t>APR 2025 · 2504.19874</a:t>
            </a:r>
            <a:endParaRPr lang="en-US" sz="1200" dirty="0"/>
          </a:p>
        </p:txBody>
      </p:sp>
      <p:sp>
        <p:nvSpPr>
          <p:cNvPr id="14" name="Text 12"/>
          <p:cNvSpPr/>
          <p:nvPr/>
        </p:nvSpPr>
        <p:spPr>
          <a:xfrm>
            <a:off x="8255000" y="3098602"/>
            <a:ext cx="295630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6F5F0"/>
                </a:solidFill>
                <a:latin typeface="IBM Plex Sans" pitchFamily="34" charset="0"/>
                <a:ea typeface="IBM Plex Sans" pitchFamily="34" charset="-122"/>
                <a:cs typeface="IBM Plex Sans" pitchFamily="34" charset="-120"/>
              </a:rPr>
              <a:t>TurboQuant</a:t>
            </a:r>
            <a:endParaRPr lang="en-US" sz="2200" dirty="0"/>
          </a:p>
        </p:txBody>
      </p:sp>
      <p:sp>
        <p:nvSpPr>
          <p:cNvPr id="15" name="Text 13"/>
          <p:cNvSpPr/>
          <p:nvPr/>
        </p:nvSpPr>
        <p:spPr>
          <a:xfrm>
            <a:off x="8255000" y="3535462"/>
            <a:ext cx="2956306" cy="151844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9DEE6"/>
                </a:solidFill>
                <a:latin typeface="IBM Plex Sans" pitchFamily="34" charset="0"/>
                <a:ea typeface="IBM Plex Sans" pitchFamily="34" charset="-122"/>
                <a:cs typeface="IBM Plex Sans" pitchFamily="34" charset="-120"/>
              </a:rPr>
              <a:t>Random rotation plus an optimal scalar quantizer per coordinate, then 1-bit QJL on the residual. Provably within about 2.7x of the information-theoretic limit, for KV caches and vector search.</a:t>
            </a:r>
            <a:endParaRPr lang="en-US" sz="14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Google's blog presents TurboQuant as PolarQuant-style compression plus a QJL error-correction bit.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21A"/>
                </a:solidFill>
                <a:latin typeface="JetBrains Mono" pitchFamily="49" charset="0"/>
                <a:ea typeface="JetBrains Mono" pitchFamily="49" charset="-122"/>
                <a:cs typeface="JetBrains Mono" pitchFamily="49" charset="-120"/>
              </a:rPr>
              <a:t>STAGE 1 · TURBOQUANT_MSE</a:t>
            </a:r>
            <a:endParaRPr lang="en-US" sz="1200" dirty="0"/>
          </a:p>
        </p:txBody>
      </p:sp>
      <p:sp>
        <p:nvSpPr>
          <p:cNvPr id="3" name="Text 1"/>
          <p:cNvSpPr/>
          <p:nvPr>
            <p:ph type="title"/>
          </p:nvPr>
        </p:nvSpPr>
        <p:spPr>
          <a:xfrm>
            <a:off x="812800" y="1381720"/>
            <a:ext cx="1137920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Rotate, then round each coordinate to a fixed codebook</a:t>
            </a:r>
            <a:endParaRPr lang="en-US" sz="3200" dirty="0"/>
          </a:p>
        </p:txBody>
      </p:sp>
      <p:sp>
        <p:nvSpPr>
          <p:cNvPr id="4" name="Shape 2"/>
          <p:cNvSpPr/>
          <p:nvPr/>
        </p:nvSpPr>
        <p:spPr>
          <a:xfrm>
            <a:off x="815975" y="2187476"/>
            <a:ext cx="2143125" cy="1624112"/>
          </a:xfrm>
          <a:prstGeom prst="roundRect">
            <a:avLst>
              <a:gd name="adj" fmla="val 6060"/>
            </a:avLst>
          </a:prstGeom>
          <a:solidFill>
            <a:srgbClr val="FDFCF9"/>
          </a:solidFill>
          <a:ln w="6350">
            <a:solidFill>
              <a:srgbClr val="E2DFD6"/>
            </a:solidFill>
            <a:prstDash val="solid"/>
          </a:ln>
        </p:spPr>
      </p:sp>
      <p:sp>
        <p:nvSpPr>
          <p:cNvPr id="5" name="Text 3"/>
          <p:cNvSpPr/>
          <p:nvPr/>
        </p:nvSpPr>
        <p:spPr>
          <a:xfrm>
            <a:off x="1022350" y="2393851"/>
            <a:ext cx="178228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Any vector x</a:t>
            </a:r>
            <a:endParaRPr lang="en-US" sz="1600" dirty="0"/>
          </a:p>
        </p:txBody>
      </p:sp>
      <p:sp>
        <p:nvSpPr>
          <p:cNvPr id="6" name="Text 4"/>
          <p:cNvSpPr/>
          <p:nvPr/>
        </p:nvSpPr>
        <p:spPr>
          <a:xfrm>
            <a:off x="1022350" y="2713831"/>
            <a:ext cx="1782286" cy="91678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Keys, values or embeddings, with outliers. Store ‖x‖ in fp16.</a:t>
            </a:r>
            <a:endParaRPr lang="en-US" sz="1300" dirty="0"/>
          </a:p>
        </p:txBody>
      </p:sp>
      <p:pic>
        <p:nvPicPr>
          <p:cNvPr id="7" name="Image 0" descr="arrow-right">    </p:cNvPr>
          <p:cNvPicPr>
            <a:picLocks noChangeAspect="1"/>
          </p:cNvPicPr>
          <p:nvPr/>
        </p:nvPicPr>
        <p:blipFill>
          <a:blip r:embed="rId1"/>
          <a:srcRect l="0" r="0" t="0" b="0"/>
          <a:stretch/>
        </p:blipFill>
        <p:spPr>
          <a:xfrm>
            <a:off x="3089275" y="2897882"/>
            <a:ext cx="406400" cy="203200"/>
          </a:xfrm>
          <a:prstGeom prst="rect">
            <a:avLst/>
          </a:prstGeom>
        </p:spPr>
      </p:pic>
      <p:sp>
        <p:nvSpPr>
          <p:cNvPr id="8" name="Shape 5"/>
          <p:cNvSpPr/>
          <p:nvPr/>
        </p:nvSpPr>
        <p:spPr>
          <a:xfrm>
            <a:off x="3625850" y="2187476"/>
            <a:ext cx="2143125" cy="1624112"/>
          </a:xfrm>
          <a:prstGeom prst="roundRect">
            <a:avLst>
              <a:gd name="adj" fmla="val 6060"/>
            </a:avLst>
          </a:prstGeom>
          <a:solidFill>
            <a:srgbClr val="FDFCF9"/>
          </a:solidFill>
          <a:ln w="6350">
            <a:solidFill>
              <a:srgbClr val="E2DFD6"/>
            </a:solidFill>
            <a:prstDash val="solid"/>
          </a:ln>
        </p:spPr>
      </p:sp>
      <p:sp>
        <p:nvSpPr>
          <p:cNvPr id="9" name="Text 6"/>
          <p:cNvSpPr/>
          <p:nvPr/>
        </p:nvSpPr>
        <p:spPr>
          <a:xfrm>
            <a:off x="3832225" y="2393851"/>
            <a:ext cx="178228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y = Π · x / ‖x‖</a:t>
            </a:r>
            <a:endParaRPr lang="en-US" sz="1600" dirty="0"/>
          </a:p>
        </p:txBody>
      </p:sp>
      <p:sp>
        <p:nvSpPr>
          <p:cNvPr id="10" name="Text 7"/>
          <p:cNvSpPr/>
          <p:nvPr/>
        </p:nvSpPr>
        <p:spPr>
          <a:xfrm>
            <a:off x="3832225" y="2713831"/>
            <a:ext cx="1782286" cy="91678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Random rotation. Every coordinate now follows the same Beta law, close to N(0, 1/d).</a:t>
            </a:r>
            <a:endParaRPr lang="en-US" sz="1300" dirty="0"/>
          </a:p>
        </p:txBody>
      </p:sp>
      <p:pic>
        <p:nvPicPr>
          <p:cNvPr id="11" name="Image 1" descr="arrow-right">    </p:cNvPr>
          <p:cNvPicPr>
            <a:picLocks noChangeAspect="1"/>
          </p:cNvPicPr>
          <p:nvPr/>
        </p:nvPicPr>
        <p:blipFill>
          <a:blip r:embed="rId2"/>
          <a:srcRect l="0" r="0" t="0" b="0"/>
          <a:stretch/>
        </p:blipFill>
        <p:spPr>
          <a:xfrm>
            <a:off x="5899150" y="2897882"/>
            <a:ext cx="406400" cy="203200"/>
          </a:xfrm>
          <a:prstGeom prst="rect">
            <a:avLst/>
          </a:prstGeom>
        </p:spPr>
      </p:pic>
      <p:sp>
        <p:nvSpPr>
          <p:cNvPr id="12" name="Shape 8"/>
          <p:cNvSpPr/>
          <p:nvPr/>
        </p:nvSpPr>
        <p:spPr>
          <a:xfrm>
            <a:off x="6435725" y="2298898"/>
            <a:ext cx="2143125" cy="1401266"/>
          </a:xfrm>
          <a:prstGeom prst="roundRect">
            <a:avLst>
              <a:gd name="adj" fmla="val 7024"/>
            </a:avLst>
          </a:prstGeom>
          <a:solidFill>
            <a:srgbClr val="FDFCF9"/>
          </a:solidFill>
          <a:ln w="6350">
            <a:solidFill>
              <a:srgbClr val="E2DFD6"/>
            </a:solidFill>
            <a:prstDash val="solid"/>
          </a:ln>
        </p:spPr>
      </p:sp>
      <p:sp>
        <p:nvSpPr>
          <p:cNvPr id="13" name="Text 9"/>
          <p:cNvSpPr/>
          <p:nvPr/>
        </p:nvSpPr>
        <p:spPr>
          <a:xfrm>
            <a:off x="6642100" y="2505273"/>
            <a:ext cx="178228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Nearest centroid</a:t>
            </a:r>
            <a:endParaRPr lang="en-US" sz="1600" dirty="0"/>
          </a:p>
        </p:txBody>
      </p:sp>
      <p:sp>
        <p:nvSpPr>
          <p:cNvPr id="14" name="Text 10"/>
          <p:cNvSpPr/>
          <p:nvPr/>
        </p:nvSpPr>
        <p:spPr>
          <a:xfrm>
            <a:off x="6642100" y="2825254"/>
            <a:ext cx="1782286"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556"/>
                </a:solidFill>
                <a:latin typeface="IBM Plex Sans" pitchFamily="34" charset="0"/>
                <a:ea typeface="IBM Plex Sans" pitchFamily="34" charset="-122"/>
                <a:cs typeface="IBM Plex Sans" pitchFamily="34" charset="-120"/>
              </a:rPr>
              <a:t>Per coordinate, from 2ᵇ Lloyd-Max centroids solved once offline.</a:t>
            </a:r>
            <a:endParaRPr lang="en-US" sz="1300" dirty="0"/>
          </a:p>
        </p:txBody>
      </p:sp>
      <p:pic>
        <p:nvPicPr>
          <p:cNvPr id="15" name="Image 2" descr="arrow-right">    </p:cNvPr>
          <p:cNvPicPr>
            <a:picLocks noChangeAspect="1"/>
          </p:cNvPicPr>
          <p:nvPr/>
        </p:nvPicPr>
        <p:blipFill>
          <a:blip r:embed="rId3"/>
          <a:srcRect l="0" r="0" t="0" b="0"/>
          <a:stretch/>
        </p:blipFill>
        <p:spPr>
          <a:xfrm>
            <a:off x="8709025" y="2897882"/>
            <a:ext cx="406400" cy="203200"/>
          </a:xfrm>
          <a:prstGeom prst="rect">
            <a:avLst/>
          </a:prstGeom>
        </p:spPr>
      </p:pic>
      <p:sp>
        <p:nvSpPr>
          <p:cNvPr id="16" name="Shape 11"/>
          <p:cNvSpPr/>
          <p:nvPr/>
        </p:nvSpPr>
        <p:spPr>
          <a:xfrm>
            <a:off x="9242425" y="2302073"/>
            <a:ext cx="2136775" cy="1394916"/>
          </a:xfrm>
          <a:prstGeom prst="roundRect">
            <a:avLst>
              <a:gd name="adj" fmla="val 7284"/>
            </a:avLst>
          </a:prstGeom>
          <a:solidFill>
            <a:srgbClr val="0F1B2D"/>
          </a:solidFill>
          <a:ln/>
        </p:spPr>
      </p:sp>
      <p:sp>
        <p:nvSpPr>
          <p:cNvPr id="17" name="Text 12"/>
          <p:cNvSpPr/>
          <p:nvPr/>
        </p:nvSpPr>
        <p:spPr>
          <a:xfrm>
            <a:off x="9445625" y="2505273"/>
            <a:ext cx="178228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5F0"/>
                </a:solidFill>
                <a:latin typeface="IBM Plex Sans" pitchFamily="34" charset="0"/>
                <a:ea typeface="IBM Plex Sans" pitchFamily="34" charset="-122"/>
                <a:cs typeface="IBM Plex Sans" pitchFamily="34" charset="-120"/>
              </a:rPr>
              <a:t>b·d bits + 16</a:t>
            </a:r>
            <a:endParaRPr lang="en-US" sz="1600" dirty="0"/>
          </a:p>
        </p:txBody>
      </p:sp>
      <p:sp>
        <p:nvSpPr>
          <p:cNvPr id="18" name="Text 13"/>
          <p:cNvSpPr/>
          <p:nvPr/>
        </p:nvSpPr>
        <p:spPr>
          <a:xfrm>
            <a:off x="9445625" y="2825254"/>
            <a:ext cx="1782286"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D9DEE6"/>
                </a:solidFill>
                <a:latin typeface="IBM Plex Sans" pitchFamily="34" charset="0"/>
                <a:ea typeface="IBM Plex Sans" pitchFamily="34" charset="-122"/>
                <a:cs typeface="IBM Plex Sans" pitchFamily="34" charset="-120"/>
              </a:rPr>
              <a:t>Decode: look up centroids, rotate back with Πᵀ, scale by ‖x‖.</a:t>
            </a:r>
            <a:endParaRPr lang="en-US" sz="1300" dirty="0"/>
          </a:p>
        </p:txBody>
      </p:sp>
      <p:sp>
        <p:nvSpPr>
          <p:cNvPr id="19" name="Text 14"/>
          <p:cNvSpPr/>
          <p:nvPr/>
        </p:nvSpPr>
        <p:spPr>
          <a:xfrm>
            <a:off x="812800" y="4170363"/>
            <a:ext cx="5337048"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4556"/>
                </a:solidFill>
                <a:latin typeface="IBM Plex Sans" pitchFamily="34" charset="0"/>
                <a:ea typeface="IBM Plex Sans" pitchFamily="34" charset="-122"/>
                <a:cs typeface="IBM Plex Sans" pitchFamily="34" charset="-120"/>
              </a:rPr>
              <a:t>Why it works.</a:t>
            </a:r>
            <a:r>
              <a:rPr lang="en-US" sz="1500" dirty="0">
                <a:solidFill>
                  <a:srgbClr val="3A4556"/>
                </a:solidFill>
                <a:latin typeface="IBM Plex Sans" pitchFamily="34" charset="0"/>
                <a:ea typeface="IBM Plex Sans" pitchFamily="34" charset="-122"/>
                <a:cs typeface="IBM Plex Sans" pitchFamily="34" charset="-120"/>
              </a:rPr>
              <a:t> In high dimensions the rotated coordinates are nearly independent, so quantizing them one at a time is close to optimal.</a:t>
            </a:r>
            <a:endParaRPr lang="en-US" sz="1500" dirty="0"/>
          </a:p>
        </p:txBody>
      </p:sp>
      <p:sp>
        <p:nvSpPr>
          <p:cNvPr id="20" name="Text 15"/>
          <p:cNvSpPr/>
          <p:nvPr/>
        </p:nvSpPr>
        <p:spPr>
          <a:xfrm>
            <a:off x="6197600" y="4170363"/>
            <a:ext cx="5337048"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4556"/>
                </a:solidFill>
                <a:latin typeface="IBM Plex Sans" pitchFamily="34" charset="0"/>
                <a:ea typeface="IBM Plex Sans" pitchFamily="34" charset="-122"/>
                <a:cs typeface="IBM Plex Sans" pitchFamily="34" charset="-120"/>
              </a:rPr>
              <a:t>Why it is fast.</a:t>
            </a:r>
            <a:r>
              <a:rPr lang="en-US" sz="1500" dirty="0">
                <a:solidFill>
                  <a:srgbClr val="3A4556"/>
                </a:solidFill>
                <a:latin typeface="IBM Plex Sans" pitchFamily="34" charset="0"/>
                <a:ea typeface="IBM Plex Sans" pitchFamily="34" charset="-122"/>
                <a:cs typeface="IBM Plex Sans" pitchFamily="34" charset="-120"/>
              </a:rPr>
              <a:t> One matrix multiply and a bucket lookup. No training, no calibration, works token by token as the cache grows.</a:t>
            </a:r>
            <a:endParaRPr lang="en-US" sz="1500" dirty="0"/>
          </a:p>
        </p:txBody>
      </p:sp>
      <p:sp>
        <p:nvSpPr>
          <p:cNvPr id="21"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Algorithm 1 of the paper. Example: 2-bit centroids are ±0.453/√d and ±1.51/√d.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21A"/>
                </a:solidFill>
                <a:latin typeface="JetBrains Mono" pitchFamily="49" charset="0"/>
                <a:ea typeface="JetBrains Mono" pitchFamily="49" charset="-122"/>
                <a:cs typeface="JetBrains Mono" pitchFamily="49" charset="-120"/>
              </a:rPr>
              <a:t>STAGE 2 · TURBOQUANT_PROD</a:t>
            </a:r>
            <a:endParaRPr lang="en-US" sz="1200" dirty="0"/>
          </a:p>
        </p:txBody>
      </p:sp>
      <p:sp>
        <p:nvSpPr>
          <p:cNvPr id="3" name="Text 1"/>
          <p:cNvSpPr/>
          <p:nvPr>
            <p:ph type="title"/>
          </p:nvPr>
        </p:nvSpPr>
        <p:spPr>
          <a:xfrm>
            <a:off x="812800" y="13309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One QJL bit on the residual removes the inner-product bias</a:t>
            </a:r>
            <a:endParaRPr lang="en-US" sz="3200" dirty="0"/>
          </a:p>
        </p:txBody>
      </p:sp>
      <p:sp>
        <p:nvSpPr>
          <p:cNvPr id="4" name="Shape 2"/>
          <p:cNvSpPr/>
          <p:nvPr/>
        </p:nvSpPr>
        <p:spPr>
          <a:xfrm>
            <a:off x="815975" y="2532856"/>
            <a:ext cx="3384550" cy="2774950"/>
          </a:xfrm>
          <a:prstGeom prst="roundRect">
            <a:avLst>
              <a:gd name="adj" fmla="val 3547"/>
            </a:avLst>
          </a:prstGeom>
          <a:solidFill>
            <a:srgbClr val="FDFCF9"/>
          </a:solidFill>
          <a:ln w="6350">
            <a:solidFill>
              <a:srgbClr val="E2DFD6"/>
            </a:solidFill>
            <a:prstDash val="solid"/>
          </a:ln>
        </p:spPr>
      </p:sp>
      <p:sp>
        <p:nvSpPr>
          <p:cNvPr id="5" name="Text 3"/>
          <p:cNvSpPr/>
          <p:nvPr/>
        </p:nvSpPr>
        <p:spPr>
          <a:xfrm>
            <a:off x="1123950" y="2840831"/>
            <a:ext cx="285165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The problem</a:t>
            </a:r>
            <a:endParaRPr lang="en-US" sz="2000" dirty="0"/>
          </a:p>
        </p:txBody>
      </p:sp>
      <p:sp>
        <p:nvSpPr>
          <p:cNvPr id="6" name="Text 4"/>
          <p:cNvSpPr/>
          <p:nvPr/>
        </p:nvSpPr>
        <p:spPr>
          <a:xfrm>
            <a:off x="1123950" y="3272631"/>
            <a:ext cx="285165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MSE-optimal codes shrink vectors toward zero. At 1 bit, E⟨y, x̃⟩ = (2/π)·⟨y, x⟩.</a:t>
            </a:r>
            <a:endParaRPr lang="en-US" sz="1500" dirty="0"/>
          </a:p>
        </p:txBody>
      </p:sp>
      <p:sp>
        <p:nvSpPr>
          <p:cNvPr id="7" name="Text 5"/>
          <p:cNvSpPr/>
          <p:nvPr/>
        </p:nvSpPr>
        <p:spPr>
          <a:xfrm>
            <a:off x="1123950" y="4199731"/>
            <a:ext cx="285165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Measured bias in the demo (d = 128): </a:t>
            </a:r>
            <a:r>
              <a:rPr lang="en-US" sz="1500" b="1" dirty="0">
                <a:solidFill>
                  <a:srgbClr val="3A4556"/>
                </a:solidFill>
                <a:latin typeface="IBM Plex Sans" pitchFamily="34" charset="0"/>
                <a:ea typeface="IBM Plex Sans" pitchFamily="34" charset="-122"/>
                <a:cs typeface="IBM Plex Sans" pitchFamily="34" charset="-120"/>
              </a:rPr>
              <a:t>−36%</a:t>
            </a:r>
            <a:r>
              <a:rPr lang="en-US" sz="1500" dirty="0">
                <a:solidFill>
                  <a:srgbClr val="3A4556"/>
                </a:solidFill>
                <a:latin typeface="IBM Plex Sans" pitchFamily="34" charset="0"/>
                <a:ea typeface="IBM Plex Sans" pitchFamily="34" charset="-122"/>
                <a:cs typeface="IBM Plex Sans" pitchFamily="34" charset="-120"/>
              </a:rPr>
              <a:t> at 1 bit, </a:t>
            </a:r>
            <a:r>
              <a:rPr lang="en-US" sz="1500" b="1" dirty="0">
                <a:solidFill>
                  <a:srgbClr val="3A4556"/>
                </a:solidFill>
                <a:latin typeface="IBM Plex Sans" pitchFamily="34" charset="0"/>
                <a:ea typeface="IBM Plex Sans" pitchFamily="34" charset="-122"/>
                <a:cs typeface="IBM Plex Sans" pitchFamily="34" charset="-120"/>
              </a:rPr>
              <a:t>−12%</a:t>
            </a:r>
            <a:r>
              <a:rPr lang="en-US" sz="1500" dirty="0">
                <a:solidFill>
                  <a:srgbClr val="3A4556"/>
                </a:solidFill>
                <a:latin typeface="IBM Plex Sans" pitchFamily="34" charset="0"/>
                <a:ea typeface="IBM Plex Sans" pitchFamily="34" charset="-122"/>
                <a:cs typeface="IBM Plex Sans" pitchFamily="34" charset="-120"/>
              </a:rPr>
              <a:t> at 2, </a:t>
            </a:r>
            <a:r>
              <a:rPr lang="en-US" sz="1500" b="1" dirty="0">
                <a:solidFill>
                  <a:srgbClr val="3A4556"/>
                </a:solidFill>
                <a:latin typeface="IBM Plex Sans" pitchFamily="34" charset="0"/>
                <a:ea typeface="IBM Plex Sans" pitchFamily="34" charset="-122"/>
                <a:cs typeface="IBM Plex Sans" pitchFamily="34" charset="-120"/>
              </a:rPr>
              <a:t>−3.5%</a:t>
            </a:r>
            <a:r>
              <a:rPr lang="en-US" sz="1500" dirty="0">
                <a:solidFill>
                  <a:srgbClr val="3A4556"/>
                </a:solidFill>
                <a:latin typeface="IBM Plex Sans" pitchFamily="34" charset="0"/>
                <a:ea typeface="IBM Plex Sans" pitchFamily="34" charset="-122"/>
                <a:cs typeface="IBM Plex Sans" pitchFamily="34" charset="-120"/>
              </a:rPr>
              <a:t> at 3.</a:t>
            </a:r>
            <a:endParaRPr lang="en-US" sz="1500" dirty="0"/>
          </a:p>
        </p:txBody>
      </p:sp>
      <p:sp>
        <p:nvSpPr>
          <p:cNvPr id="8" name="Shape 6"/>
          <p:cNvSpPr/>
          <p:nvPr/>
        </p:nvSpPr>
        <p:spPr>
          <a:xfrm>
            <a:off x="4410075" y="2532856"/>
            <a:ext cx="3384550" cy="2774950"/>
          </a:xfrm>
          <a:prstGeom prst="roundRect">
            <a:avLst>
              <a:gd name="adj" fmla="val 3547"/>
            </a:avLst>
          </a:prstGeom>
          <a:solidFill>
            <a:srgbClr val="FDFCF9"/>
          </a:solidFill>
          <a:ln w="6350">
            <a:solidFill>
              <a:srgbClr val="E2DFD6"/>
            </a:solidFill>
            <a:prstDash val="solid"/>
          </a:ln>
        </p:spPr>
      </p:sp>
      <p:sp>
        <p:nvSpPr>
          <p:cNvPr id="9" name="Text 7"/>
          <p:cNvSpPr/>
          <p:nvPr/>
        </p:nvSpPr>
        <p:spPr>
          <a:xfrm>
            <a:off x="4718050" y="2840831"/>
            <a:ext cx="285165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The fix</a:t>
            </a:r>
            <a:endParaRPr lang="en-US" sz="2000" dirty="0"/>
          </a:p>
        </p:txBody>
      </p:sp>
      <p:sp>
        <p:nvSpPr>
          <p:cNvPr id="10" name="Text 8"/>
          <p:cNvSpPr/>
          <p:nvPr/>
        </p:nvSpPr>
        <p:spPr>
          <a:xfrm>
            <a:off x="4718050" y="3272631"/>
            <a:ext cx="2851658"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0F1B2D"/>
                </a:solidFill>
                <a:latin typeface="JetBrains Mono" pitchFamily="49" charset="0"/>
                <a:ea typeface="JetBrains Mono" pitchFamily="49" charset="-122"/>
                <a:cs typeface="JetBrains Mono" pitchFamily="49" charset="-120"/>
              </a:rPr>
              <a:t>idx = Q_mse(x) with b−1 bits</a:t>
            </a:r>
            <a:endParaRPr lang="en-US" sz="1300" dirty="0"/>
          </a:p>
          <a:p>
            <a:pPr algn="l" indent="0" marL="0">
              <a:lnSpc>
                <a:spcPts val="1950"/>
              </a:lnSpc>
              <a:buNone/>
            </a:pPr>
            <a:r>
              <a:rPr lang="en-US" sz="1300" dirty="0">
                <a:solidFill>
                  <a:srgbClr val="0F1B2D"/>
                </a:solidFill>
                <a:latin typeface="JetBrains Mono" pitchFamily="49" charset="0"/>
                <a:ea typeface="JetBrains Mono" pitchFamily="49" charset="-122"/>
                <a:cs typeface="JetBrains Mono" pitchFamily="49" charset="-120"/>
              </a:rPr>
              <a:t>r = x − Q_mse⁻¹(idx)</a:t>
            </a:r>
            <a:endParaRPr lang="en-US" sz="1300" dirty="0"/>
          </a:p>
          <a:p>
            <a:pPr algn="l" indent="0" marL="0">
              <a:lnSpc>
                <a:spcPts val="1950"/>
              </a:lnSpc>
              <a:buNone/>
            </a:pPr>
            <a:r>
              <a:rPr lang="en-US" sz="1300" dirty="0">
                <a:solidFill>
                  <a:srgbClr val="0F1B2D"/>
                </a:solidFill>
                <a:latin typeface="JetBrains Mono" pitchFamily="49" charset="0"/>
                <a:ea typeface="JetBrains Mono" pitchFamily="49" charset="-122"/>
                <a:cs typeface="JetBrains Mono" pitchFamily="49" charset="-120"/>
              </a:rPr>
              <a:t>store idx, sign(S·r), ‖r‖</a:t>
            </a:r>
            <a:endParaRPr lang="en-US" sz="1300" dirty="0"/>
          </a:p>
        </p:txBody>
      </p:sp>
      <p:sp>
        <p:nvSpPr>
          <p:cNvPr id="11" name="Text 9"/>
          <p:cNvSpPr/>
          <p:nvPr/>
        </p:nvSpPr>
        <p:spPr>
          <a:xfrm>
            <a:off x="4718050" y="4390231"/>
            <a:ext cx="285165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Unbiased at every bit-width (measured bias +0.1%).</a:t>
            </a:r>
            <a:endParaRPr lang="en-US" sz="1500" dirty="0"/>
          </a:p>
        </p:txBody>
      </p:sp>
      <p:sp>
        <p:nvSpPr>
          <p:cNvPr id="12" name="Shape 10"/>
          <p:cNvSpPr/>
          <p:nvPr/>
        </p:nvSpPr>
        <p:spPr>
          <a:xfrm>
            <a:off x="8001000" y="2529681"/>
            <a:ext cx="3378200" cy="2781300"/>
          </a:xfrm>
          <a:prstGeom prst="roundRect">
            <a:avLst>
              <a:gd name="adj" fmla="val 3653"/>
            </a:avLst>
          </a:prstGeom>
          <a:solidFill>
            <a:srgbClr val="0F1B2D"/>
          </a:solidFill>
          <a:ln/>
        </p:spPr>
      </p:sp>
      <p:sp>
        <p:nvSpPr>
          <p:cNvPr id="13" name="Text 11"/>
          <p:cNvSpPr/>
          <p:nvPr/>
        </p:nvSpPr>
        <p:spPr>
          <a:xfrm>
            <a:off x="8305800" y="2834481"/>
            <a:ext cx="285165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A35E"/>
                </a:solidFill>
                <a:latin typeface="IBM Plex Sans" pitchFamily="34" charset="0"/>
                <a:ea typeface="IBM Plex Sans" pitchFamily="34" charset="-122"/>
                <a:cs typeface="IBM Plex Sans" pitchFamily="34" charset="-120"/>
              </a:rPr>
              <a:t>The trade-off</a:t>
            </a:r>
            <a:endParaRPr lang="en-US" sz="2000" dirty="0"/>
          </a:p>
        </p:txBody>
      </p:sp>
      <p:sp>
        <p:nvSpPr>
          <p:cNvPr id="14" name="Text 12"/>
          <p:cNvSpPr/>
          <p:nvPr/>
        </p:nvSpPr>
        <p:spPr>
          <a:xfrm>
            <a:off x="8305800" y="3266281"/>
            <a:ext cx="285165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9DEE6"/>
                </a:solidFill>
                <a:latin typeface="IBM Plex Sans" pitchFamily="34" charset="0"/>
                <a:ea typeface="IBM Plex Sans" pitchFamily="34" charset="-122"/>
                <a:cs typeface="IBM Plex Sans" pitchFamily="34" charset="-120"/>
              </a:rPr>
              <a:t>Unbiased, but noisier: it spends one bit on the sign sketch.</a:t>
            </a:r>
            <a:endParaRPr lang="en-US" sz="1500" dirty="0"/>
          </a:p>
        </p:txBody>
      </p:sp>
      <p:sp>
        <p:nvSpPr>
          <p:cNvPr id="15" name="Text 13"/>
          <p:cNvSpPr/>
          <p:nvPr/>
        </p:nvSpPr>
        <p:spPr>
          <a:xfrm>
            <a:off x="8305800" y="3926681"/>
            <a:ext cx="2851658"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9DEE6"/>
                </a:solidFill>
                <a:latin typeface="IBM Plex Sans" pitchFamily="34" charset="0"/>
                <a:ea typeface="IBM Plex Sans" pitchFamily="34" charset="-122"/>
                <a:cs typeface="IBM Plex Sans" pitchFamily="34" charset="-120"/>
              </a:rPr>
              <a:t>From 3 bits up, plain MSE has lower total error. The paper's Figure 3 shows the same crossover.</a:t>
            </a:r>
            <a:endParaRPr lang="en-US" sz="15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Algorithm 2 of the paper. Bias figures measured in the LLM notebook's theory check (20,000 random vectors).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21A"/>
                </a:solidFill>
                <a:latin typeface="JetBrains Mono" pitchFamily="49" charset="0"/>
                <a:ea typeface="JetBrains Mono" pitchFamily="49" charset="-122"/>
                <a:cs typeface="JetBrains Mono" pitchFamily="49" charset="-120"/>
              </a:rPr>
              <a:t>NEAR-OPTIMAL</a:t>
            </a:r>
            <a:endParaRPr lang="en-US" sz="1200" dirty="0"/>
          </a:p>
        </p:txBody>
      </p:sp>
      <p:sp>
        <p:nvSpPr>
          <p:cNvPr id="3" name="Text 1"/>
          <p:cNvSpPr/>
          <p:nvPr>
            <p:ph type="title"/>
          </p:nvPr>
        </p:nvSpPr>
        <p:spPr>
          <a:xfrm>
            <a:off x="812800" y="13309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No quantizer can do much better: TurboQuant is within 2.7x of the limit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542381"/>
          <a:ext cx="7404100" cy="2330450"/>
        </p:xfrm>
        <a:graphic>
          <a:graphicData uri="http://schemas.openxmlformats.org/drawingml/2006/table">
            <a:tbl>
              <a:tblPr/>
              <a:tblGrid>
                <a:gridCol w="2073148"/>
                <a:gridCol w="1332738"/>
                <a:gridCol w="1332738"/>
                <a:gridCol w="1332738"/>
                <a:gridCol w="1332738"/>
              </a:tblGrid>
              <a:tr h="412750">
                <a:tc>
                  <a:txBody>
                    <a:bodyPr/>
                    <a:lstStyle/>
                    <a:p>
                      <a:pPr indent="0" marL="0">
                        <a:lnSpc>
                          <a:spcPts val="2100"/>
                        </a:lnSpc>
                        <a:buNone/>
                      </a:pPr>
                      <a:r>
                        <a:rPr lang="en-US" sz="1500" b="1" dirty="0">
                          <a:solidFill>
                            <a:srgbClr val="1B2433"/>
                          </a:solidFill>
                          <a:latin typeface="IBM Plex Sans" pitchFamily="34" charset="0"/>
                          <a:ea typeface="IBM Plex Sans" pitchFamily="34" charset="-122"/>
                          <a:cs typeface="IBM Plex Sans" pitchFamily="34" charset="-120"/>
                        </a:rPr>
                        <a:t>MSE, unit vectors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100"/>
                        </a:lnSpc>
                        <a:buNone/>
                      </a:pPr>
                      <a:r>
                        <a:rPr lang="en-US" sz="1500" b="1" dirty="0">
                          <a:solidFill>
                            <a:srgbClr val="1B2433"/>
                          </a:solidFill>
                          <a:latin typeface="IBM Plex Sans" pitchFamily="34" charset="0"/>
                          <a:ea typeface="IBM Plex Sans" pitchFamily="34" charset="-122"/>
                          <a:cs typeface="IBM Plex Sans" pitchFamily="34" charset="-120"/>
                        </a:rPr>
                        <a:t>b = 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100"/>
                        </a:lnSpc>
                        <a:buNone/>
                      </a:pPr>
                      <a:r>
                        <a:rPr lang="en-US" sz="1500" b="1" dirty="0">
                          <a:solidFill>
                            <a:srgbClr val="1B2433"/>
                          </a:solidFill>
                          <a:latin typeface="IBM Plex Sans" pitchFamily="34" charset="0"/>
                          <a:ea typeface="IBM Plex Sans" pitchFamily="34" charset="-122"/>
                          <a:cs typeface="IBM Plex Sans" pitchFamily="34" charset="-120"/>
                        </a:rPr>
                        <a:t>b = 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100"/>
                        </a:lnSpc>
                        <a:buNone/>
                      </a:pPr>
                      <a:r>
                        <a:rPr lang="en-US" sz="1500" b="1" dirty="0">
                          <a:solidFill>
                            <a:srgbClr val="1B2433"/>
                          </a:solidFill>
                          <a:latin typeface="IBM Plex Sans" pitchFamily="34" charset="0"/>
                          <a:ea typeface="IBM Plex Sans" pitchFamily="34" charset="-122"/>
                          <a:cs typeface="IBM Plex Sans" pitchFamily="34" charset="-120"/>
                        </a:rPr>
                        <a:t>b = 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100"/>
                        </a:lnSpc>
                        <a:buNone/>
                      </a:pPr>
                      <a:r>
                        <a:rPr lang="en-US" sz="1500" b="1" dirty="0">
                          <a:solidFill>
                            <a:srgbClr val="1B2433"/>
                          </a:solidFill>
                          <a:latin typeface="IBM Plex Sans" pitchFamily="34" charset="0"/>
                          <a:ea typeface="IBM Plex Sans" pitchFamily="34" charset="-122"/>
                          <a:cs typeface="IBM Plex Sans" pitchFamily="34" charset="-120"/>
                        </a:rPr>
                        <a:t>b = 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41275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Lower bound 4⁻ᵇ</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0.250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0.063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0.016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0.0039</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Demo, measured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0.360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0.116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0.034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0.0093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r h="41275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Paper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0.36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0.117</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0.03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0.009</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67945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Upper bound √3π/2·4⁻ᵇ</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0.680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0.170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0.043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0.0106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5" name="Shape 2"/>
          <p:cNvSpPr/>
          <p:nvPr/>
        </p:nvSpPr>
        <p:spPr>
          <a:xfrm>
            <a:off x="8585200" y="2529681"/>
            <a:ext cx="2794000" cy="2120900"/>
          </a:xfrm>
          <a:prstGeom prst="roundRect">
            <a:avLst>
              <a:gd name="adj" fmla="val 4790"/>
            </a:avLst>
          </a:prstGeom>
          <a:solidFill>
            <a:srgbClr val="0F1B2D"/>
          </a:solidFill>
          <a:ln/>
        </p:spPr>
      </p:sp>
      <p:sp>
        <p:nvSpPr>
          <p:cNvPr id="6" name="Text 3"/>
          <p:cNvSpPr/>
          <p:nvPr/>
        </p:nvSpPr>
        <p:spPr>
          <a:xfrm>
            <a:off x="8890000" y="2834481"/>
            <a:ext cx="224993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2A35E"/>
                </a:solidFill>
                <a:latin typeface="IBM Plex Sans" pitchFamily="34" charset="0"/>
                <a:ea typeface="IBM Plex Sans" pitchFamily="34" charset="-122"/>
                <a:cs typeface="IBM Plex Sans" pitchFamily="34" charset="-120"/>
              </a:rPr>
              <a:t>1.45x</a:t>
            </a:r>
            <a:endParaRPr lang="en-US" sz="4800" dirty="0"/>
          </a:p>
        </p:txBody>
      </p:sp>
      <p:sp>
        <p:nvSpPr>
          <p:cNvPr id="7" name="Text 4"/>
          <p:cNvSpPr/>
          <p:nvPr/>
        </p:nvSpPr>
        <p:spPr>
          <a:xfrm>
            <a:off x="8890000" y="3545681"/>
            <a:ext cx="224993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9DEE6"/>
                </a:solidFill>
                <a:latin typeface="IBM Plex Sans" pitchFamily="34" charset="0"/>
                <a:ea typeface="IBM Plex Sans" pitchFamily="34" charset="-122"/>
                <a:cs typeface="IBM Plex Sans" pitchFamily="34" charset="-120"/>
              </a:rPr>
              <a:t>gap to the Shannon lower bound at 1 bit; never more than √3π/2 ≈ 2.7x.</a:t>
            </a:r>
            <a:endParaRPr lang="en-US" sz="1500" dirty="0"/>
          </a:p>
        </p:txBody>
      </p:sp>
      <p:sp>
        <p:nvSpPr>
          <p:cNvPr id="8" name="Text 5"/>
          <p:cNvSpPr/>
          <p:nvPr/>
        </p:nvSpPr>
        <p:spPr>
          <a:xfrm>
            <a:off x="812800" y="5177631"/>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Each extra bit cuts the error by 4x, the best rate any quantizer can achieve. Earlier data-oblivious methods had only loose, polynomial guarantees.</a:t>
            </a:r>
            <a:endParaRPr lang="en-US" sz="15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Theorems 1 and 3 of 2504.19874. Measured row: turboquant_core.py, d = 128, 20,000 vectors.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21A"/>
                </a:solidFill>
                <a:latin typeface="JetBrains Mono" pitchFamily="49" charset="0"/>
                <a:ea typeface="JetBrains Mono" pitchFamily="49" charset="-122"/>
                <a:cs typeface="JetBrains Mono" pitchFamily="49" charset="-120"/>
              </a:rPr>
              <a:t>PAPER RESULTS · KV CACHE</a:t>
            </a:r>
            <a:endParaRPr lang="en-US" sz="1200" dirty="0"/>
          </a:p>
        </p:txBody>
      </p:sp>
      <p:sp>
        <p:nvSpPr>
          <p:cNvPr id="3" name="Text 1"/>
          <p:cNvSpPr/>
          <p:nvPr>
            <p:ph type="title"/>
          </p:nvPr>
        </p:nvSpPr>
        <p:spPr>
          <a:xfrm>
            <a:off x="812800" y="13309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3.5 bits matches the full cache on LongBench and needle retrieval</a:t>
            </a:r>
            <a:endParaRPr lang="en-US" sz="3200" dirty="0"/>
          </a:p>
        </p:txBody>
      </p:sp>
      <p:sp>
        <p:nvSpPr>
          <p:cNvPr id="4" name="Text 2"/>
          <p:cNvSpPr/>
          <p:nvPr/>
        </p:nvSpPr>
        <p:spPr>
          <a:xfrm>
            <a:off x="812800" y="2529681"/>
            <a:ext cx="631025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LongBench average, Llama-3.1-8B-Instruct</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887762"/>
          <a:ext cx="6113760" cy="2701727"/>
        </p:xfrm>
        <a:graphic>
          <a:graphicData uri="http://schemas.openxmlformats.org/drawingml/2006/table">
            <a:tbl>
              <a:tblPr/>
              <a:tblGrid>
                <a:gridCol w="3423706"/>
                <a:gridCol w="1345027"/>
                <a:gridCol w="1345027"/>
              </a:tblGrid>
              <a:tr h="385961">
                <a:tc>
                  <a:txBody>
                    <a:bodyPr/>
                    <a:lstStyle/>
                    <a:p>
                      <a:pPr indent="0" marL="0">
                        <a:lnSpc>
                          <a:spcPts val="1960"/>
                        </a:lnSpc>
                        <a:buNone/>
                      </a:pPr>
                      <a:r>
                        <a:rPr lang="en-US" sz="1400" b="1" dirty="0">
                          <a:solidFill>
                            <a:srgbClr val="1B2433"/>
                          </a:solidFill>
                          <a:latin typeface="IBM Plex Sans" pitchFamily="34" charset="0"/>
                          <a:ea typeface="IBM Plex Sans" pitchFamily="34" charset="-122"/>
                          <a:cs typeface="IBM Plex Sans" pitchFamily="34" charset="-120"/>
                        </a:rPr>
                        <a:t>Method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B2433"/>
                          </a:solidFill>
                          <a:latin typeface="IBM Plex Sans" pitchFamily="34" charset="0"/>
                          <a:ea typeface="IBM Plex Sans" pitchFamily="34" charset="-122"/>
                          <a:cs typeface="IBM Plex Sans" pitchFamily="34" charset="-120"/>
                        </a:rPr>
                        <a:t>KV bits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B2433"/>
                          </a:solidFill>
                          <a:latin typeface="IBM Plex Sans" pitchFamily="34" charset="0"/>
                          <a:ea typeface="IBM Plex Sans" pitchFamily="34" charset="-122"/>
                          <a:cs typeface="IBM Plex Sans" pitchFamily="34" charset="-120"/>
                        </a:rPr>
                        <a:t>Average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Full cache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16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50.06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KIVI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48.50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KIVI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50.16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PolarQuant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3.9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49.78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TurboQuant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2.5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49.44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TurboQuant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3.5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50.06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bl>
          </a:graphicData>
        </a:graphic>
      </p:graphicFrame>
      <p:sp>
        <p:nvSpPr>
          <p:cNvPr id="6" name="Text 3"/>
          <p:cNvSpPr/>
          <p:nvPr/>
        </p:nvSpPr>
        <p:spPr>
          <a:xfrm>
            <a:off x="7294860" y="2529681"/>
            <a:ext cx="4206870"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Needle in a haystack, 4k–104k tokens, 25% memory</a:t>
            </a:r>
            <a:endParaRPr lang="en-US" sz="16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7307560" y="3131542"/>
          <a:ext cx="4071640" cy="2701727"/>
        </p:xfrm>
        <a:graphic>
          <a:graphicData uri="http://schemas.openxmlformats.org/drawingml/2006/table">
            <a:tbl>
              <a:tblPr/>
              <a:tblGrid>
                <a:gridCol w="2524417"/>
                <a:gridCol w="1547223"/>
              </a:tblGrid>
              <a:tr h="385961">
                <a:tc>
                  <a:txBody>
                    <a:bodyPr/>
                    <a:lstStyle/>
                    <a:p>
                      <a:pPr indent="0" marL="0">
                        <a:lnSpc>
                          <a:spcPts val="1960"/>
                        </a:lnSpc>
                        <a:buNone/>
                      </a:pPr>
                      <a:r>
                        <a:rPr lang="en-US" sz="1400" b="1" dirty="0">
                          <a:solidFill>
                            <a:srgbClr val="1B2433"/>
                          </a:solidFill>
                          <a:latin typeface="IBM Plex Sans" pitchFamily="34" charset="0"/>
                          <a:ea typeface="IBM Plex Sans" pitchFamily="34" charset="-122"/>
                          <a:cs typeface="IBM Plex Sans" pitchFamily="34" charset="-120"/>
                        </a:rPr>
                        <a:t>Method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B2433"/>
                          </a:solidFill>
                          <a:latin typeface="IBM Plex Sans" pitchFamily="34" charset="0"/>
                          <a:ea typeface="IBM Plex Sans" pitchFamily="34" charset="-122"/>
                          <a:cs typeface="IBM Plex Sans" pitchFamily="34" charset="-120"/>
                        </a:rPr>
                        <a:t>Score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Full precision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0.997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TurboQuant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0.997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PolarQuant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0.995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KIVI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0.981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PyramidKV</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0.895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SnapKV</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0.858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Source: 2504.19874, Table 1 and Figure 4. 2.5 and 3.5 bits use an outlier-channel split (e.g. 32 channels at 3 bits, 96 at 2 bits).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5248"/>
          </a:xfrm>
          <a:prstGeom prst="rect">
            <a:avLst/>
          </a:prstGeom>
          <a:noFill/>
          <a:ln/>
        </p:spPr>
        <p:txBody>
          <a:bodyPr wrap="square" lIns="0" tIns="0" rIns="0" bIns="0" rtlCol="0" anchor="t">
            <a:normAutofit/>
          </a:bodyPr>
          <a:lstStyle/>
          <a:p>
            <a:pPr algn="l" indent="0" marL="0">
              <a:lnSpc>
                <a:spcPts val="1675"/>
              </a:lnSpc>
              <a:buNone/>
            </a:pPr>
            <a:r>
              <a:rPr lang="en-US" sz="1196" spc="100" kern="0" dirty="0">
                <a:solidFill>
                  <a:srgbClr val="B4521A"/>
                </a:solidFill>
                <a:latin typeface="JetBrains Mono" pitchFamily="49" charset="0"/>
                <a:ea typeface="JetBrains Mono" pitchFamily="49" charset="-122"/>
                <a:cs typeface="JetBrains Mono" pitchFamily="49" charset="-120"/>
              </a:rPr>
              <a:t>IN PRODUCTION</a:t>
            </a:r>
            <a:endParaRPr lang="en-US" sz="1196" dirty="0"/>
          </a:p>
        </p:txBody>
      </p:sp>
      <p:sp>
        <p:nvSpPr>
          <p:cNvPr id="3" name="Text 1"/>
          <p:cNvSpPr/>
          <p:nvPr>
            <p:ph type="title"/>
          </p:nvPr>
        </p:nvSpPr>
        <p:spPr>
          <a:xfrm>
            <a:off x="812800" y="1327448"/>
            <a:ext cx="10883392" cy="465138"/>
          </a:xfrm>
          <a:prstGeom prst="rect">
            <a:avLst/>
          </a:prstGeom>
          <a:noFill/>
          <a:ln/>
        </p:spPr>
        <p:txBody>
          <a:bodyPr wrap="square" lIns="0" tIns="0" rIns="0" bIns="0" rtlCol="0" anchor="t">
            <a:normAutofit/>
          </a:bodyPr>
          <a:lstStyle/>
          <a:p>
            <a:pPr algn="l" indent="0" marL="0">
              <a:lnSpc>
                <a:spcPts val="3465"/>
              </a:lnSpc>
              <a:buNone/>
            </a:pPr>
            <a:r>
              <a:rPr lang="en-US" sz="3150" b="1" i="0" dirty="0">
                <a:solidFill>
                  <a:srgbClr val="0F1B2D"/>
                </a:solidFill>
                <a:latin typeface="IBM Plex Sans" pitchFamily="34" charset="0"/>
                <a:ea typeface="IBM Plex Sans" pitchFamily="34" charset="-122"/>
                <a:cs typeface="IBM Plex Sans" pitchFamily="34" charset="-120"/>
              </a:rPr>
              <a:t>The big win is capacity; speed depends on the kernel</a:t>
            </a:r>
            <a:endParaRPr lang="en-US" sz="3150" dirty="0"/>
          </a:p>
        </p:txBody>
      </p:sp>
      <p:sp>
        <p:nvSpPr>
          <p:cNvPr id="4" name="Shape 2"/>
          <p:cNvSpPr/>
          <p:nvPr/>
        </p:nvSpPr>
        <p:spPr>
          <a:xfrm>
            <a:off x="815975" y="2075160"/>
            <a:ext cx="5175250" cy="2715220"/>
          </a:xfrm>
          <a:prstGeom prst="roundRect">
            <a:avLst>
              <a:gd name="adj" fmla="val 3625"/>
            </a:avLst>
          </a:prstGeom>
          <a:solidFill>
            <a:srgbClr val="FDFCF9"/>
          </a:solidFill>
          <a:ln w="6350">
            <a:solidFill>
              <a:srgbClr val="E2DFD6"/>
            </a:solidFill>
            <a:prstDash val="solid"/>
          </a:ln>
        </p:spPr>
      </p:sp>
      <p:sp>
        <p:nvSpPr>
          <p:cNvPr id="5" name="Text 3"/>
          <p:cNvSpPr/>
          <p:nvPr/>
        </p:nvSpPr>
        <p:spPr>
          <a:xfrm>
            <a:off x="1123950" y="2383135"/>
            <a:ext cx="4696079" cy="233660"/>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5F6979"/>
                </a:solidFill>
                <a:latin typeface="JetBrains Mono" pitchFamily="49" charset="0"/>
                <a:ea typeface="JetBrains Mono" pitchFamily="49" charset="-122"/>
                <a:cs typeface="JetBrains Mono" pitchFamily="49" charset="-120"/>
              </a:rPr>
              <a:t>GOOGLE RESEARCH BLOG</a:t>
            </a:r>
            <a:endParaRPr lang="en-US" sz="1196" dirty="0"/>
          </a:p>
        </p:txBody>
      </p:sp>
      <p:sp>
        <p:nvSpPr>
          <p:cNvPr id="6" name="Text 4"/>
          <p:cNvSpPr/>
          <p:nvPr/>
        </p:nvSpPr>
        <p:spPr>
          <a:xfrm>
            <a:off x="1123950" y="2718395"/>
            <a:ext cx="4696079" cy="620713"/>
          </a:xfrm>
          <a:prstGeom prst="rect">
            <a:avLst/>
          </a:prstGeom>
          <a:noFill/>
          <a:ln/>
        </p:spPr>
        <p:txBody>
          <a:bodyPr wrap="square" lIns="0" tIns="0" rIns="0" bIns="0" rtlCol="0" anchor="t">
            <a:normAutofit/>
          </a:bodyPr>
          <a:lstStyle/>
          <a:p>
            <a:pPr algn="l" indent="0" marL="0">
              <a:lnSpc>
                <a:spcPts val="4710"/>
              </a:lnSpc>
              <a:buNone/>
            </a:pPr>
            <a:r>
              <a:rPr lang="en-US" sz="4710" b="1" dirty="0">
                <a:solidFill>
                  <a:srgbClr val="0F1B2D"/>
                </a:solidFill>
                <a:latin typeface="IBM Plex Sans" pitchFamily="34" charset="0"/>
                <a:ea typeface="IBM Plex Sans" pitchFamily="34" charset="-122"/>
                <a:cs typeface="IBM Plex Sans" pitchFamily="34" charset="-120"/>
              </a:rPr>
              <a:t>up to 8x</a:t>
            </a:r>
            <a:endParaRPr lang="en-US" sz="4710" dirty="0"/>
          </a:p>
        </p:txBody>
      </p:sp>
      <p:sp>
        <p:nvSpPr>
          <p:cNvPr id="7" name="Text 5"/>
          <p:cNvSpPr/>
          <p:nvPr/>
        </p:nvSpPr>
        <p:spPr>
          <a:xfrm>
            <a:off x="1123950" y="3440708"/>
            <a:ext cx="4696079" cy="1067098"/>
          </a:xfrm>
          <a:prstGeom prst="rect">
            <a:avLst/>
          </a:prstGeom>
          <a:noFill/>
          <a:ln/>
        </p:spPr>
        <p:txBody>
          <a:bodyPr wrap="square" lIns="0" tIns="0" rIns="0" bIns="0" rtlCol="0" anchor="t">
            <a:normAutofit/>
          </a:bodyPr>
          <a:lstStyle/>
          <a:p>
            <a:pPr algn="l" indent="0" marL="0">
              <a:lnSpc>
                <a:spcPts val="2054"/>
              </a:lnSpc>
              <a:buNone/>
            </a:pPr>
            <a:r>
              <a:rPr lang="en-US" sz="1467" dirty="0">
                <a:solidFill>
                  <a:srgbClr val="3A4556"/>
                </a:solidFill>
                <a:latin typeface="IBM Plex Sans" pitchFamily="34" charset="0"/>
                <a:ea typeface="IBM Plex Sans" pitchFamily="34" charset="-122"/>
                <a:cs typeface="IBM Plex Sans" pitchFamily="34" charset="-120"/>
              </a:rPr>
              <a:t>faster attention-logit computation with 4-bit TurboQuant versus 32-bit keys on H100. At least 6x smaller KV memory on needle tasks, with 3-bit keys and no training.</a:t>
            </a:r>
            <a:endParaRPr lang="en-US" sz="1467" dirty="0"/>
          </a:p>
        </p:txBody>
      </p:sp>
      <p:sp>
        <p:nvSpPr>
          <p:cNvPr id="8" name="Shape 6"/>
          <p:cNvSpPr/>
          <p:nvPr/>
        </p:nvSpPr>
        <p:spPr>
          <a:xfrm>
            <a:off x="6200775" y="2075160"/>
            <a:ext cx="5175250" cy="2715220"/>
          </a:xfrm>
          <a:prstGeom prst="roundRect">
            <a:avLst>
              <a:gd name="adj" fmla="val 3625"/>
            </a:avLst>
          </a:prstGeom>
          <a:solidFill>
            <a:srgbClr val="FDFCF9"/>
          </a:solidFill>
          <a:ln w="6350">
            <a:solidFill>
              <a:srgbClr val="E2DFD6"/>
            </a:solidFill>
            <a:prstDash val="solid"/>
          </a:ln>
        </p:spPr>
      </p:sp>
      <p:sp>
        <p:nvSpPr>
          <p:cNvPr id="9" name="Text 7"/>
          <p:cNvSpPr/>
          <p:nvPr/>
        </p:nvSpPr>
        <p:spPr>
          <a:xfrm>
            <a:off x="6508750" y="2383135"/>
            <a:ext cx="4696079" cy="233660"/>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5F6979"/>
                </a:solidFill>
                <a:latin typeface="JetBrains Mono" pitchFamily="49" charset="0"/>
                <a:ea typeface="JetBrains Mono" pitchFamily="49" charset="-122"/>
                <a:cs typeface="JetBrains Mono" pitchFamily="49" charset="-120"/>
              </a:rPr>
              <a:t>VLLM 0.20.2+ · H100</a:t>
            </a:r>
            <a:endParaRPr lang="en-US" sz="1196" dirty="0"/>
          </a:p>
        </p:txBody>
      </p:sp>
      <p:sp>
        <p:nvSpPr>
          <p:cNvPr id="10" name="Text 8"/>
          <p:cNvSpPr/>
          <p:nvPr/>
        </p:nvSpPr>
        <p:spPr>
          <a:xfrm>
            <a:off x="6508750" y="2718395"/>
            <a:ext cx="4696079" cy="620713"/>
          </a:xfrm>
          <a:prstGeom prst="rect">
            <a:avLst/>
          </a:prstGeom>
          <a:noFill/>
          <a:ln/>
        </p:spPr>
        <p:txBody>
          <a:bodyPr wrap="square" lIns="0" tIns="0" rIns="0" bIns="0" rtlCol="0" anchor="t">
            <a:normAutofit/>
          </a:bodyPr>
          <a:lstStyle/>
          <a:p>
            <a:pPr algn="l" indent="0" marL="0">
              <a:lnSpc>
                <a:spcPts val="4710"/>
              </a:lnSpc>
              <a:buNone/>
            </a:pPr>
            <a:r>
              <a:rPr lang="en-US" sz="4710" b="1" dirty="0">
                <a:solidFill>
                  <a:srgbClr val="0F1B2D"/>
                </a:solidFill>
                <a:latin typeface="IBM Plex Sans" pitchFamily="34" charset="0"/>
                <a:ea typeface="IBM Plex Sans" pitchFamily="34" charset="-122"/>
                <a:cs typeface="IBM Plex Sans" pitchFamily="34" charset="-120"/>
              </a:rPr>
              <a:t>2.3–3.7x</a:t>
            </a:r>
            <a:endParaRPr lang="en-US" sz="4710" dirty="0"/>
          </a:p>
        </p:txBody>
      </p:sp>
      <p:sp>
        <p:nvSpPr>
          <p:cNvPr id="11" name="Text 9"/>
          <p:cNvSpPr/>
          <p:nvPr/>
        </p:nvSpPr>
        <p:spPr>
          <a:xfrm>
            <a:off x="6508750" y="3440708"/>
            <a:ext cx="4696079" cy="1067098"/>
          </a:xfrm>
          <a:prstGeom prst="rect">
            <a:avLst/>
          </a:prstGeom>
          <a:noFill/>
          <a:ln/>
        </p:spPr>
        <p:txBody>
          <a:bodyPr wrap="square" lIns="0" tIns="0" rIns="0" bIns="0" rtlCol="0" anchor="t">
            <a:normAutofit/>
          </a:bodyPr>
          <a:lstStyle/>
          <a:p>
            <a:pPr algn="l" indent="0" marL="0">
              <a:lnSpc>
                <a:spcPts val="2054"/>
              </a:lnSpc>
              <a:buNone/>
            </a:pPr>
            <a:r>
              <a:rPr lang="en-US" sz="1467" dirty="0">
                <a:solidFill>
                  <a:srgbClr val="3A4556"/>
                </a:solidFill>
                <a:latin typeface="IBM Plex Sans" pitchFamily="34" charset="0"/>
                <a:ea typeface="IBM Plex Sans" pitchFamily="34" charset="-122"/>
                <a:cs typeface="IBM Plex Sans" pitchFamily="34" charset="-120"/>
              </a:rPr>
              <a:t>more KV-cache capacity, at 66–80% of BF16 throughput. The aggressive 3-bit variants drop up to ~20 points on hard math and coding; FP8 stays throughput-neutral.</a:t>
            </a:r>
            <a:endParaRPr lang="en-US" sz="1467" dirty="0"/>
          </a:p>
        </p:txBody>
      </p:sp>
      <p:sp>
        <p:nvSpPr>
          <p:cNvPr id="12" name="Text 10"/>
          <p:cNvSpPr/>
          <p:nvPr/>
        </p:nvSpPr>
        <p:spPr>
          <a:xfrm>
            <a:off x="812800" y="5098355"/>
            <a:ext cx="10566400" cy="743645"/>
          </a:xfrm>
          <a:prstGeom prst="roundRect">
            <a:avLst>
              <a:gd name="adj" fmla="val 10247"/>
            </a:avLst>
          </a:prstGeom>
          <a:solidFill>
            <a:srgbClr val="E9E6DD"/>
          </a:solidFill>
          <a:ln/>
        </p:spPr>
        <p:txBody>
          <a:bodyPr wrap="square" lIns="155482" tIns="104682" rIns="0" bIns="79282" rtlCol="0" anchor="t">
            <a:normAutofit/>
          </a:bodyPr>
          <a:lstStyle/>
          <a:p>
            <a:pPr algn="l" indent="0" marL="0">
              <a:lnSpc>
                <a:spcPts val="1936"/>
              </a:lnSpc>
              <a:buNone/>
            </a:pPr>
            <a:r>
              <a:rPr lang="en-US" sz="1383" dirty="0">
                <a:solidFill>
                  <a:srgbClr val="0F1B2D"/>
                </a:solidFill>
                <a:latin typeface="JetBrains Mono" pitchFamily="49" charset="0"/>
                <a:ea typeface="JetBrains Mono" pitchFamily="49" charset="-122"/>
                <a:cs typeface="JetBrains Mono" pitchFamily="49" charset="-120"/>
              </a:rPr>
              <a:t>vllm serve &lt;model&gt; --kv-cache-dtype turboquant_4bit_nc # or turboquant_k8v4, turboquant_k3v4_nc, turboquant_3bit_nc</a:t>
            </a:r>
            <a:endParaRPr lang="en-US" sz="1383"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Sources: research.google/blog/turboquant-redefining-ai-efficiency-with-extreme-compression · vllm.ai/blog/2026-05-11-turboquant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21A"/>
                </a:solidFill>
                <a:latin typeface="JetBrains Mono" pitchFamily="49" charset="0"/>
                <a:ea typeface="JetBrains Mono" pitchFamily="49" charset="-122"/>
                <a:cs typeface="JetBrains Mono" pitchFamily="49" charset="-120"/>
              </a:rPr>
              <a:t>PAPER RESULTS · VECTOR SEARCH</a:t>
            </a:r>
            <a:endParaRPr lang="en-US" sz="1200" dirty="0"/>
          </a:p>
        </p:txBody>
      </p:sp>
      <p:sp>
        <p:nvSpPr>
          <p:cNvPr id="3" name="Text 1"/>
          <p:cNvSpPr/>
          <p:nvPr>
            <p:ph type="title"/>
          </p:nvPr>
        </p:nvSpPr>
        <p:spPr>
          <a:xfrm>
            <a:off x="812800" y="13309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Better recall than trained PQ, with indexing time near zero</a:t>
            </a:r>
            <a:endParaRPr lang="en-US" sz="3200" dirty="0"/>
          </a:p>
        </p:txBody>
      </p:sp>
      <p:sp>
        <p:nvSpPr>
          <p:cNvPr id="4" name="Text 2"/>
          <p:cNvSpPr/>
          <p:nvPr/>
        </p:nvSpPr>
        <p:spPr>
          <a:xfrm>
            <a:off x="812800" y="2529681"/>
            <a:ext cx="593356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Time to quantize 100k vectors at 4 bits (seconds)</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887762"/>
          <a:ext cx="5748040" cy="1651000"/>
        </p:xfrm>
        <a:graphic>
          <a:graphicData uri="http://schemas.openxmlformats.org/drawingml/2006/table">
            <a:tbl>
              <a:tblPr/>
              <a:tblGrid>
                <a:gridCol w="2299216"/>
                <a:gridCol w="1149608"/>
                <a:gridCol w="1149608"/>
                <a:gridCol w="1149608"/>
              </a:tblGrid>
              <a:tr h="412750">
                <a:tc>
                  <a:txBody>
                    <a:bodyPr/>
                    <a:lstStyle/>
                    <a:p>
                      <a:pPr indent="0" marL="0">
                        <a:lnSpc>
                          <a:spcPts val="2100"/>
                        </a:lnSpc>
                        <a:buNone/>
                      </a:pPr>
                      <a:r>
                        <a:rPr lang="en-US" sz="1500" b="1" dirty="0">
                          <a:solidFill>
                            <a:srgbClr val="1B2433"/>
                          </a:solidFill>
                          <a:latin typeface="IBM Plex Sans" pitchFamily="34" charset="0"/>
                          <a:ea typeface="IBM Plex Sans" pitchFamily="34" charset="-122"/>
                          <a:cs typeface="IBM Plex Sans" pitchFamily="34" charset="-120"/>
                        </a:rPr>
                        <a:t>Method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100"/>
                        </a:lnSpc>
                        <a:buNone/>
                      </a:pPr>
                      <a:r>
                        <a:rPr lang="en-US" sz="1500" b="1" dirty="0">
                          <a:solidFill>
                            <a:srgbClr val="1B2433"/>
                          </a:solidFill>
                          <a:latin typeface="IBM Plex Sans" pitchFamily="34" charset="0"/>
                          <a:ea typeface="IBM Plex Sans" pitchFamily="34" charset="-122"/>
                          <a:cs typeface="IBM Plex Sans" pitchFamily="34" charset="-120"/>
                        </a:rPr>
                        <a:t>d = 200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100"/>
                        </a:lnSpc>
                        <a:buNone/>
                      </a:pPr>
                      <a:r>
                        <a:rPr lang="en-US" sz="1500" b="1" dirty="0">
                          <a:solidFill>
                            <a:srgbClr val="1B2433"/>
                          </a:solidFill>
                          <a:latin typeface="IBM Plex Sans" pitchFamily="34" charset="0"/>
                          <a:ea typeface="IBM Plex Sans" pitchFamily="34" charset="-122"/>
                          <a:cs typeface="IBM Plex Sans" pitchFamily="34" charset="-120"/>
                        </a:rPr>
                        <a:t>d = 1536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100"/>
                        </a:lnSpc>
                        <a:buNone/>
                      </a:pPr>
                      <a:r>
                        <a:rPr lang="en-US" sz="1500" b="1" dirty="0">
                          <a:solidFill>
                            <a:srgbClr val="1B2433"/>
                          </a:solidFill>
                          <a:latin typeface="IBM Plex Sans" pitchFamily="34" charset="0"/>
                          <a:ea typeface="IBM Plex Sans" pitchFamily="34" charset="-122"/>
                          <a:cs typeface="IBM Plex Sans" pitchFamily="34" charset="-120"/>
                        </a:rPr>
                        <a:t>d = 3072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41275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Product Quantization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37.04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239.75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494.42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RaBitQ</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597.25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2267.59</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3957.19</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TurboQuant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0.0007</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0.0013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0.0021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bl>
          </a:graphicData>
        </a:graphic>
      </p:graphicFrame>
      <p:sp>
        <p:nvSpPr>
          <p:cNvPr id="6" name="Shape 3"/>
          <p:cNvSpPr/>
          <p:nvPr/>
        </p:nvSpPr>
        <p:spPr>
          <a:xfrm>
            <a:off x="6929140" y="2529681"/>
            <a:ext cx="4450060" cy="2070100"/>
          </a:xfrm>
          <a:prstGeom prst="roundRect">
            <a:avLst>
              <a:gd name="adj" fmla="val 4908"/>
            </a:avLst>
          </a:prstGeom>
          <a:solidFill>
            <a:srgbClr val="0F1B2D"/>
          </a:solidFill>
          <a:ln/>
        </p:spPr>
      </p:sp>
      <p:sp>
        <p:nvSpPr>
          <p:cNvPr id="7" name="Text 4"/>
          <p:cNvSpPr/>
          <p:nvPr/>
        </p:nvSpPr>
        <p:spPr>
          <a:xfrm>
            <a:off x="7233940" y="2834481"/>
            <a:ext cx="395567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5F0"/>
                </a:solidFill>
                <a:latin typeface="IBM Plex Sans" pitchFamily="34" charset="0"/>
                <a:ea typeface="IBM Plex Sans" pitchFamily="34" charset="-122"/>
                <a:cs typeface="IBM Plex Sans" pitchFamily="34" charset="-120"/>
              </a:rPr>
              <a:t>Recall@1@k beat both PQ and RaBitQ on GloVe-200, OpenAI3-1536 and OpenAI3-3072, at 2 and 4 bits.</a:t>
            </a:r>
            <a:endParaRPr lang="en-US" sz="1500" dirty="0"/>
          </a:p>
        </p:txBody>
      </p:sp>
      <p:sp>
        <p:nvSpPr>
          <p:cNvPr id="8" name="Text 5"/>
          <p:cNvSpPr/>
          <p:nvPr/>
        </p:nvSpPr>
        <p:spPr>
          <a:xfrm>
            <a:off x="7233940" y="3761581"/>
            <a:ext cx="395567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A35E"/>
                </a:solidFill>
                <a:latin typeface="IBM Plex Sans" pitchFamily="34" charset="0"/>
                <a:ea typeface="IBM Plex Sans" pitchFamily="34" charset="-122"/>
                <a:cs typeface="IBM Plex Sans" pitchFamily="34" charset="-120"/>
              </a:rPr>
              <a:t>Even though PQ was trained and evaluated on the same data, which favours PQ.</a:t>
            </a:r>
            <a:endParaRPr lang="en-US" sz="15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Source: 2504.19874, Table 2 and Figure 5 (DBpedia entities with OpenAI text-embedding-3-large; GloVe).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2A35E"/>
                </a:solidFill>
                <a:latin typeface="JetBrains Mono" pitchFamily="49" charset="0"/>
                <a:ea typeface="JetBrains Mono" pitchFamily="49" charset="-122"/>
                <a:cs typeface="JetBrains Mono" pitchFamily="49" charset="-120"/>
              </a:rPr>
              <a:t>THE DEMOS</a:t>
            </a:r>
            <a:endParaRPr lang="en-US" sz="1200" dirty="0"/>
          </a:p>
        </p:txBody>
      </p:sp>
      <p:sp>
        <p:nvSpPr>
          <p:cNvPr id="3" name="Text 1"/>
          <p:cNvSpPr/>
          <p:nvPr>
            <p:ph type="title"/>
          </p:nvPr>
        </p:nvSpPr>
        <p:spPr>
          <a:xfrm>
            <a:off x="812800" y="1381720"/>
            <a:ext cx="10883392" cy="103108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6F5F0"/>
                </a:solidFill>
                <a:latin typeface="IBM Plex Sans" pitchFamily="34" charset="0"/>
                <a:ea typeface="IBM Plex Sans" pitchFamily="34" charset="-122"/>
                <a:cs typeface="IBM Plex Sans" pitchFamily="34" charset="-120"/>
              </a:rPr>
              <a:t>Two Colab notebooks, one 400-line PyTorch implementation</a:t>
            </a:r>
            <a:endParaRPr lang="en-US" sz="3600" dirty="0"/>
          </a:p>
        </p:txBody>
      </p:sp>
      <p:sp>
        <p:nvSpPr>
          <p:cNvPr id="4" name="Shape 2"/>
          <p:cNvSpPr/>
          <p:nvPr/>
        </p:nvSpPr>
        <p:spPr>
          <a:xfrm>
            <a:off x="812800" y="2743002"/>
            <a:ext cx="5181600" cy="2496741"/>
          </a:xfrm>
          <a:prstGeom prst="roundRect">
            <a:avLst>
              <a:gd name="adj" fmla="val 4069"/>
            </a:avLst>
          </a:prstGeom>
          <a:solidFill>
            <a:srgbClr val="1E2F48"/>
          </a:solidFill>
          <a:ln/>
        </p:spPr>
      </p:sp>
      <p:sp>
        <p:nvSpPr>
          <p:cNvPr id="5" name="Text 3"/>
          <p:cNvSpPr/>
          <p:nvPr/>
        </p:nvSpPr>
        <p:spPr>
          <a:xfrm>
            <a:off x="1117600" y="3047802"/>
            <a:ext cx="4709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A35E"/>
                </a:solidFill>
                <a:latin typeface="JetBrains Mono" pitchFamily="49" charset="0"/>
                <a:ea typeface="JetBrains Mono" pitchFamily="49" charset="-122"/>
                <a:cs typeface="JetBrains Mono" pitchFamily="49" charset="-120"/>
              </a:rPr>
              <a:t>llm_kv_cache_demo.ipynb</a:t>
            </a:r>
            <a:endParaRPr lang="en-US" sz="1300" dirty="0"/>
          </a:p>
        </p:txBody>
      </p:sp>
      <p:sp>
        <p:nvSpPr>
          <p:cNvPr id="6" name="Text 4"/>
          <p:cNvSpPr/>
          <p:nvPr/>
        </p:nvSpPr>
        <p:spPr>
          <a:xfrm>
            <a:off x="1117600" y="3405882"/>
            <a:ext cx="470916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6F5F0"/>
                </a:solidFill>
                <a:latin typeface="IBM Plex Sans" pitchFamily="34" charset="0"/>
                <a:ea typeface="IBM Plex Sans" pitchFamily="34" charset="-122"/>
                <a:cs typeface="IBM Plex Sans" pitchFamily="34" charset="-120"/>
              </a:rPr>
              <a:t>LLM inference</a:t>
            </a:r>
            <a:endParaRPr lang="en-US" sz="2200" dirty="0"/>
          </a:p>
        </p:txBody>
      </p:sp>
      <p:sp>
        <p:nvSpPr>
          <p:cNvPr id="7" name="Text 5"/>
          <p:cNvSpPr/>
          <p:nvPr/>
        </p:nvSpPr>
        <p:spPr>
          <a:xfrm>
            <a:off x="1117600" y="3868142"/>
            <a:ext cx="4709160"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9DEE6"/>
                </a:solidFill>
                <a:latin typeface="IBM Plex Sans" pitchFamily="34" charset="0"/>
                <a:ea typeface="IBM Plex Sans" pitchFamily="34" charset="-122"/>
                <a:cs typeface="IBM Plex Sans" pitchFamily="34" charset="-120"/>
              </a:rPr>
              <a:t>Qwen2.5-1.5B-Instruct on a free T4. Theory check, perplexity, KL and top-1 agreement versus FP16, needle in a haystack up to 8k tokens, measured memory and speed.</a:t>
            </a:r>
            <a:endParaRPr lang="en-US" sz="1500" dirty="0"/>
          </a:p>
        </p:txBody>
      </p:sp>
      <p:sp>
        <p:nvSpPr>
          <p:cNvPr id="8" name="Shape 6"/>
          <p:cNvSpPr/>
          <p:nvPr/>
        </p:nvSpPr>
        <p:spPr>
          <a:xfrm>
            <a:off x="6197600" y="2743002"/>
            <a:ext cx="5181600" cy="2496741"/>
          </a:xfrm>
          <a:prstGeom prst="roundRect">
            <a:avLst>
              <a:gd name="adj" fmla="val 4069"/>
            </a:avLst>
          </a:prstGeom>
          <a:solidFill>
            <a:srgbClr val="1E2F48"/>
          </a:solidFill>
          <a:ln/>
        </p:spPr>
      </p:sp>
      <p:sp>
        <p:nvSpPr>
          <p:cNvPr id="9" name="Text 7"/>
          <p:cNvSpPr/>
          <p:nvPr/>
        </p:nvSpPr>
        <p:spPr>
          <a:xfrm>
            <a:off x="6502400" y="3047802"/>
            <a:ext cx="4709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A35E"/>
                </a:solidFill>
                <a:latin typeface="JetBrains Mono" pitchFamily="49" charset="0"/>
                <a:ea typeface="JetBrains Mono" pitchFamily="49" charset="-122"/>
                <a:cs typeface="JetBrains Mono" pitchFamily="49" charset="-120"/>
              </a:rPr>
              <a:t>vector_search_demo.ipynb</a:t>
            </a:r>
            <a:endParaRPr lang="en-US" sz="1300" dirty="0"/>
          </a:p>
        </p:txBody>
      </p:sp>
      <p:sp>
        <p:nvSpPr>
          <p:cNvPr id="10" name="Text 8"/>
          <p:cNvSpPr/>
          <p:nvPr/>
        </p:nvSpPr>
        <p:spPr>
          <a:xfrm>
            <a:off x="6502400" y="3405882"/>
            <a:ext cx="470916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6F5F0"/>
                </a:solidFill>
                <a:latin typeface="IBM Plex Sans" pitchFamily="34" charset="0"/>
                <a:ea typeface="IBM Plex Sans" pitchFamily="34" charset="-122"/>
                <a:cs typeface="IBM Plex Sans" pitchFamily="34" charset="-120"/>
              </a:rPr>
              <a:t>Vector search</a:t>
            </a:r>
            <a:endParaRPr lang="en-US" sz="2200" dirty="0"/>
          </a:p>
        </p:txBody>
      </p:sp>
      <p:sp>
        <p:nvSpPr>
          <p:cNvPr id="11" name="Text 9"/>
          <p:cNvSpPr/>
          <p:nvPr/>
        </p:nvSpPr>
        <p:spPr>
          <a:xfrm>
            <a:off x="6502400" y="3868142"/>
            <a:ext cx="4709160"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9DEE6"/>
                </a:solidFill>
                <a:latin typeface="IBM Plex Sans" pitchFamily="34" charset="0"/>
                <a:ea typeface="IBM Plex Sans" pitchFamily="34" charset="-122"/>
                <a:cs typeface="IBM Plex Sans" pitchFamily="34" charset="-120"/>
              </a:rPr>
              <a:t>The paper's DBpedia OpenAI-1536 setup, 100k vectors. TurboQuant and turbovec versus FAISS PQ, PQ-FastScan, RaBitQ and SQ4: recall, build time, QPS, re-ranking.</a:t>
            </a:r>
            <a:endParaRPr lang="en-US" sz="15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8"/>
                </a:solidFill>
                <a:latin typeface="IBM Plex Sans" pitchFamily="34" charset="0"/>
                <a:ea typeface="IBM Plex Sans" pitchFamily="34" charset="-122"/>
                <a:cs typeface="IBM Plex Sans" pitchFamily="34" charset="-120"/>
              </a:rPr>
              <a:t>Both notebooks embed turboquant_core.py, so each runs on its own with Runtime › Run all.</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21A"/>
                </a:solidFill>
                <a:latin typeface="JetBrains Mono" pitchFamily="49" charset="0"/>
                <a:ea typeface="JetBrains Mono" pitchFamily="49" charset="-122"/>
                <a:cs typeface="JetBrains Mono" pitchFamily="49" charset="-120"/>
              </a:rPr>
              <a:t>DEMO 1 · LLM INFERENCE</a:t>
            </a:r>
            <a:endParaRPr lang="en-US" sz="1200" dirty="0"/>
          </a:p>
        </p:txBody>
      </p:sp>
      <p:sp>
        <p:nvSpPr>
          <p:cNvPr id="3" name="Text 1"/>
          <p:cNvSpPr/>
          <p:nvPr>
            <p:ph type="title"/>
          </p:nvPr>
        </p:nvSpPr>
        <p:spPr>
          <a:xfrm>
            <a:off x="812800" y="13309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A drop-in Hugging Face cache that stores K and V compressed</a:t>
            </a:r>
            <a:endParaRPr lang="en-US" sz="3200" dirty="0"/>
          </a:p>
        </p:txBody>
      </p:sp>
      <p:sp>
        <p:nvSpPr>
          <p:cNvPr id="4" name="Text 2"/>
          <p:cNvSpPr/>
          <p:nvPr/>
        </p:nvSpPr>
        <p:spPr>
          <a:xfrm>
            <a:off x="812800" y="2529681"/>
            <a:ext cx="6360120" cy="3066852"/>
          </a:xfrm>
          <a:prstGeom prst="roundRect">
            <a:avLst>
              <a:gd name="adj" fmla="val 3313"/>
            </a:avLst>
          </a:prstGeom>
          <a:solidFill>
            <a:srgbClr val="0F1B2D"/>
          </a:solidFill>
          <a:ln/>
        </p:spPr>
        <p:txBody>
          <a:bodyPr wrap="square" lIns="224242" tIns="224242" rIns="48679" bIns="198842" rtlCol="0" anchor="t">
            <a:normAutofit/>
          </a:bodyPr>
          <a:lstStyle/>
          <a:p>
            <a:pPr algn="l" indent="0" marL="0">
              <a:lnSpc>
                <a:spcPts val="2015"/>
              </a:lnSpc>
              <a:buNone/>
            </a:pPr>
            <a:r>
              <a:rPr lang="en-US" sz="1300" dirty="0">
                <a:solidFill>
                  <a:srgbClr val="F6F5F0"/>
                </a:solidFill>
                <a:latin typeface="JetBrains Mono" pitchFamily="49" charset="0"/>
                <a:ea typeface="JetBrains Mono" pitchFamily="49" charset="-122"/>
                <a:cs typeface="JetBrains Mono" pitchFamily="49" charset="-120"/>
              </a:rPr>
              <a:t>from turboquant_core import TurboQuantCache, mixed_factory</a:t>
            </a:r>
            <a:endParaRPr lang="en-US" sz="1300" dirty="0"/>
          </a:p>
          <a:p>
            <a:pPr algn="l" indent="0" marL="0">
              <a:lnSpc>
                <a:spcPts val="2015"/>
              </a:lnSpc>
              <a:buNone/>
            </a:pPr>
            <a:endParaRPr lang="en-US" sz="1300" dirty="0"/>
          </a:p>
          <a:p>
            <a:pPr algn="l" indent="0" marL="0">
              <a:lnSpc>
                <a:spcPts val="2015"/>
              </a:lnSpc>
              <a:buNone/>
            </a:pPr>
            <a:r>
              <a:rPr lang="en-US" sz="1300" dirty="0">
                <a:solidFill>
                  <a:srgbClr val="F6F5F0"/>
                </a:solidFill>
                <a:latin typeface="JetBrains Mono" pitchFamily="49" charset="0"/>
                <a:ea typeface="JetBrains Mono" pitchFamily="49" charset="-122"/>
                <a:cs typeface="JetBrains Mono" pitchFamily="49" charset="-120"/>
              </a:rPr>
              <a:t>cache = TurboQuantCache(</a:t>
            </a:r>
            <a:endParaRPr lang="en-US" sz="1300" dirty="0"/>
          </a:p>
          <a:p>
            <a:pPr algn="l" indent="0" marL="0">
              <a:lnSpc>
                <a:spcPts val="2015"/>
              </a:lnSpc>
              <a:buNone/>
            </a:pPr>
            <a:r>
              <a:rPr lang="en-US" sz="1300" dirty="0">
                <a:solidFill>
                  <a:srgbClr val="F6F5F0"/>
                </a:solidFill>
                <a:latin typeface="JetBrains Mono" pitchFamily="49" charset="0"/>
                <a:ea typeface="JetBrains Mono" pitchFamily="49" charset="-122"/>
                <a:cs typeface="JetBrains Mono" pitchFamily="49" charset="-120"/>
              </a:rPr>
              <a:t>model.config,</a:t>
            </a:r>
            <a:endParaRPr lang="en-US" sz="1300" dirty="0"/>
          </a:p>
          <a:p>
            <a:pPr algn="l" indent="0" marL="0">
              <a:lnSpc>
                <a:spcPts val="2015"/>
              </a:lnSpc>
              <a:buNone/>
            </a:pPr>
            <a:r>
              <a:rPr lang="en-US" sz="1300" dirty="0">
                <a:solidFill>
                  <a:srgbClr val="F6F5F0"/>
                </a:solidFill>
                <a:latin typeface="JetBrains Mono" pitchFamily="49" charset="0"/>
                <a:ea typeface="JetBrains Mono" pitchFamily="49" charset="-122"/>
                <a:cs typeface="JetBrains Mono" pitchFamily="49" charset="-120"/>
              </a:rPr>
              <a:t>make_k=mixed_factory(0.25, 3, 2), # 32 ch @3b + 96 @2b</a:t>
            </a:r>
            <a:endParaRPr lang="en-US" sz="1300" dirty="0"/>
          </a:p>
          <a:p>
            <a:pPr algn="l" indent="0" marL="0">
              <a:lnSpc>
                <a:spcPts val="2015"/>
              </a:lnSpc>
              <a:buNone/>
            </a:pPr>
            <a:r>
              <a:rPr lang="en-US" sz="1300" dirty="0">
                <a:solidFill>
                  <a:srgbClr val="F6F5F0"/>
                </a:solidFill>
                <a:latin typeface="JetBrains Mono" pitchFamily="49" charset="0"/>
                <a:ea typeface="JetBrains Mono" pitchFamily="49" charset="-122"/>
                <a:cs typeface="JetBrains Mono" pitchFamily="49" charset="-120"/>
              </a:rPr>
              <a:t>make_v=mixed_factory(0.25, 3, 2),</a:t>
            </a:r>
            <a:endParaRPr lang="en-US" sz="1300" dirty="0"/>
          </a:p>
          <a:p>
            <a:pPr algn="l" indent="0" marL="0">
              <a:lnSpc>
                <a:spcPts val="2015"/>
              </a:lnSpc>
              <a:buNone/>
            </a:pPr>
            <a:r>
              <a:rPr lang="en-US" sz="1300" dirty="0">
                <a:solidFill>
                  <a:srgbClr val="F6F5F0"/>
                </a:solidFill>
                <a:latin typeface="JetBrains Mono" pitchFamily="49" charset="0"/>
                <a:ea typeface="JetBrains Mono" pitchFamily="49" charset="-122"/>
                <a:cs typeface="JetBrains Mono" pitchFamily="49" charset="-120"/>
              </a:rPr>
              <a:t>)</a:t>
            </a:r>
            <a:endParaRPr lang="en-US" sz="1300" dirty="0"/>
          </a:p>
          <a:p>
            <a:pPr algn="l" indent="0" marL="0">
              <a:lnSpc>
                <a:spcPts val="2015"/>
              </a:lnSpc>
              <a:buNone/>
            </a:pPr>
            <a:r>
              <a:rPr lang="en-US" sz="1300" dirty="0">
                <a:solidFill>
                  <a:srgbClr val="F6F5F0"/>
                </a:solidFill>
                <a:latin typeface="JetBrains Mono" pitchFamily="49" charset="0"/>
                <a:ea typeface="JetBrains Mono" pitchFamily="49" charset="-122"/>
                <a:cs typeface="JetBrains Mono" pitchFamily="49" charset="-120"/>
              </a:rPr>
              <a:t>out = model.generate(ids, past_key_values=cache,</a:t>
            </a:r>
            <a:endParaRPr lang="en-US" sz="1300" dirty="0"/>
          </a:p>
          <a:p>
            <a:pPr algn="l" indent="0" marL="0">
              <a:lnSpc>
                <a:spcPts val="2015"/>
              </a:lnSpc>
              <a:buNone/>
            </a:pPr>
            <a:r>
              <a:rPr lang="en-US" sz="1300" dirty="0">
                <a:solidFill>
                  <a:srgbClr val="F6F5F0"/>
                </a:solidFill>
                <a:latin typeface="JetBrains Mono" pitchFamily="49" charset="0"/>
                <a:ea typeface="JetBrains Mono" pitchFamily="49" charset="-122"/>
                <a:cs typeface="JetBrains Mono" pitchFamily="49" charset="-120"/>
              </a:rPr>
              <a:t>max_new_tokens=64)</a:t>
            </a:r>
            <a:endParaRPr lang="en-US" sz="1300" dirty="0"/>
          </a:p>
          <a:p>
            <a:pPr algn="l" indent="0" marL="0">
              <a:lnSpc>
                <a:spcPts val="2015"/>
              </a:lnSpc>
              <a:buNone/>
            </a:pPr>
            <a:r>
              <a:rPr lang="en-US" sz="1300" dirty="0">
                <a:solidFill>
                  <a:srgbClr val="F6F5F0"/>
                </a:solidFill>
                <a:latin typeface="JetBrains Mono" pitchFamily="49" charset="0"/>
                <a:ea typeface="JetBrains Mono" pitchFamily="49" charset="-122"/>
                <a:cs typeface="JetBrains Mono" pitchFamily="49" charset="-120"/>
              </a:rPr>
              <a:t>print(cache.nbytes()) # measured, bit-packed</a:t>
            </a:r>
            <a:endParaRPr lang="en-US" sz="1300" dirty="0"/>
          </a:p>
        </p:txBody>
      </p:sp>
      <p:sp>
        <p:nvSpPr>
          <p:cNvPr id="5" name="Text 3"/>
          <p:cNvSpPr/>
          <p:nvPr/>
        </p:nvSpPr>
        <p:spPr>
          <a:xfrm>
            <a:off x="7477720" y="2529681"/>
            <a:ext cx="4018524"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4556"/>
                </a:solidFill>
                <a:latin typeface="IBM Plex Sans" pitchFamily="34" charset="0"/>
                <a:ea typeface="IBM Plex Sans" pitchFamily="34" charset="-122"/>
                <a:cs typeface="IBM Plex Sans" pitchFamily="34" charset="-120"/>
              </a:rPr>
              <a:t>On insert:</a:t>
            </a:r>
            <a:r>
              <a:rPr lang="en-US" sz="1500" dirty="0">
                <a:solidFill>
                  <a:srgbClr val="3A4556"/>
                </a:solidFill>
                <a:latin typeface="IBM Plex Sans" pitchFamily="34" charset="0"/>
                <a:ea typeface="IBM Plex Sans" pitchFamily="34" charset="-122"/>
                <a:cs typeface="IBM Plex Sans" pitchFamily="34" charset="-120"/>
              </a:rPr>
              <a:t> each new key and value is rotated, quantized and bit-packed, one rotation per layer.</a:t>
            </a:r>
            <a:endParaRPr lang="en-US" sz="1500" dirty="0"/>
          </a:p>
        </p:txBody>
      </p:sp>
      <p:sp>
        <p:nvSpPr>
          <p:cNvPr id="6" name="Text 4"/>
          <p:cNvSpPr/>
          <p:nvPr/>
        </p:nvSpPr>
        <p:spPr>
          <a:xfrm>
            <a:off x="7477720" y="3482181"/>
            <a:ext cx="4018524"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4556"/>
                </a:solidFill>
                <a:latin typeface="IBM Plex Sans" pitchFamily="34" charset="0"/>
                <a:ea typeface="IBM Plex Sans" pitchFamily="34" charset="-122"/>
                <a:cs typeface="IBM Plex Sans" pitchFamily="34" charset="-120"/>
              </a:rPr>
              <a:t>On read:</a:t>
            </a:r>
            <a:r>
              <a:rPr lang="en-US" sz="1500" dirty="0">
                <a:solidFill>
                  <a:srgbClr val="3A4556"/>
                </a:solidFill>
                <a:latin typeface="IBM Plex Sans" pitchFamily="34" charset="0"/>
                <a:ea typeface="IBM Plex Sans" pitchFamily="34" charset="-122"/>
                <a:cs typeface="IBM Plex Sans" pitchFamily="34" charset="-120"/>
              </a:rPr>
              <a:t> codes are unpacked and rotated back for attention.</a:t>
            </a:r>
            <a:endParaRPr lang="en-US" sz="1500" dirty="0"/>
          </a:p>
        </p:txBody>
      </p:sp>
      <p:sp>
        <p:nvSpPr>
          <p:cNvPr id="7" name="Text 5"/>
          <p:cNvSpPr/>
          <p:nvPr/>
        </p:nvSpPr>
        <p:spPr>
          <a:xfrm>
            <a:off x="7477720" y="4167981"/>
            <a:ext cx="4018524"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4556"/>
                </a:solidFill>
                <a:latin typeface="IBM Plex Sans" pitchFamily="34" charset="0"/>
                <a:ea typeface="IBM Plex Sans" pitchFamily="34" charset="-122"/>
                <a:cs typeface="IBM Plex Sans" pitchFamily="34" charset="-120"/>
              </a:rPr>
              <a:t>Compared:</a:t>
            </a:r>
            <a:r>
              <a:rPr lang="en-US" sz="1500" dirty="0">
                <a:solidFill>
                  <a:srgbClr val="3A4556"/>
                </a:solidFill>
                <a:latin typeface="IBM Plex Sans" pitchFamily="34" charset="0"/>
                <a:ea typeface="IBM Plex Sans" pitchFamily="34" charset="-122"/>
                <a:cs typeface="IBM Plex Sans" pitchFamily="34" charset="-120"/>
              </a:rPr>
              <a:t> 4, 3.5, 3, 2.5 and 2-bit TurboQuant, the QJL variant, and INT4/3/2 with scales.</a:t>
            </a:r>
            <a:endParaRPr lang="en-US" sz="15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Requires transformers 5. Quality is measured with chunked prefill: each 128-token chunk attends to the compressed cache of everything before it.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21A"/>
                </a:solidFill>
                <a:latin typeface="JetBrains Mono" pitchFamily="49" charset="0"/>
                <a:ea typeface="JetBrains Mono" pitchFamily="49" charset="-122"/>
                <a:cs typeface="JetBrains Mono" pitchFamily="49" charset="-120"/>
              </a:rPr>
              <a:t>DEMO 1 · MEMORY</a:t>
            </a:r>
            <a:endParaRPr lang="en-US" sz="1200" dirty="0"/>
          </a:p>
        </p:txBody>
      </p:sp>
      <p:sp>
        <p:nvSpPr>
          <p:cNvPr id="3" name="Text 1"/>
          <p:cNvSpPr/>
          <p:nvPr>
            <p:ph type="title"/>
          </p:nvPr>
        </p:nvSpPr>
        <p:spPr>
          <a:xfrm>
            <a:off x="812800" y="13309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Measured: 3.9x smaller at 4 bits, 6.4x at 2.5 bits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95401"/>
          <a:ext cx="5753100" cy="3585369"/>
        </p:xfrm>
        <a:graphic>
          <a:graphicData uri="http://schemas.openxmlformats.org/drawingml/2006/table">
            <a:tbl>
              <a:tblPr/>
              <a:tblGrid>
                <a:gridCol w="2991612"/>
                <a:gridCol w="1380744"/>
                <a:gridCol w="1380744"/>
              </a:tblGrid>
              <a:tr h="385961">
                <a:tc>
                  <a:txBody>
                    <a:bodyPr/>
                    <a:lstStyle/>
                    <a:p>
                      <a:pPr indent="0" marL="0">
                        <a:lnSpc>
                          <a:spcPts val="1960"/>
                        </a:lnSpc>
                        <a:buNone/>
                      </a:pPr>
                      <a:r>
                        <a:rPr lang="en-US" sz="1400" b="1" dirty="0">
                          <a:solidFill>
                            <a:srgbClr val="1B2433"/>
                          </a:solidFill>
                          <a:latin typeface="IBM Plex Sans" pitchFamily="34" charset="0"/>
                          <a:ea typeface="IBM Plex Sans" pitchFamily="34" charset="-122"/>
                          <a:cs typeface="IBM Plex Sans" pitchFamily="34" charset="-120"/>
                        </a:rPr>
                        <a:t>Cache, head_dim 128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B2433"/>
                          </a:solidFill>
                          <a:latin typeface="IBM Plex Sans" pitchFamily="34" charset="0"/>
                          <a:ea typeface="IBM Plex Sans" pitchFamily="34" charset="-122"/>
                          <a:cs typeface="IBM Plex Sans" pitchFamily="34" charset="-120"/>
                        </a:rPr>
                        <a:t>Bits / channel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B2433"/>
                          </a:solidFill>
                          <a:latin typeface="IBM Plex Sans" pitchFamily="34" charset="0"/>
                          <a:ea typeface="IBM Plex Sans" pitchFamily="34" charset="-122"/>
                          <a:cs typeface="IBM Plex Sans" pitchFamily="34" charset="-120"/>
                        </a:rPr>
                        <a:t>vs FP16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FP16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16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1.0x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INT4, scale + zero per 32 ch</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5.0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3.2x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TurboQuant 4-bit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4.125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3.9x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r h="634802">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TurboQuant 3.5 (64 @4b + 64 @3b)</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3.75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4.3x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TurboQuant 3-bit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3.125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5.1x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r h="634802">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TurboQuant 2.5 (32 @3b + 96 @2b)</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2.5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6.4x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TurboQuant 2-bit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2.125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7.5x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bl>
          </a:graphicData>
        </a:graphic>
      </p:graphicFrame>
      <p:sp>
        <p:nvSpPr>
          <p:cNvPr id="5" name="Shape 2"/>
          <p:cNvSpPr/>
          <p:nvPr/>
        </p:nvSpPr>
        <p:spPr>
          <a:xfrm>
            <a:off x="6934200" y="2082701"/>
            <a:ext cx="4445000" cy="2313880"/>
          </a:xfrm>
          <a:prstGeom prst="roundRect">
            <a:avLst>
              <a:gd name="adj" fmla="val 4391"/>
            </a:avLst>
          </a:prstGeom>
          <a:solidFill>
            <a:srgbClr val="0F1B2D"/>
          </a:solidFill>
          <a:ln/>
        </p:spPr>
      </p:sp>
      <p:sp>
        <p:nvSpPr>
          <p:cNvPr id="6" name="Text 3"/>
          <p:cNvSpPr/>
          <p:nvPr/>
        </p:nvSpPr>
        <p:spPr>
          <a:xfrm>
            <a:off x="7239000" y="2387501"/>
            <a:ext cx="395046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A35E"/>
                </a:solidFill>
                <a:latin typeface="JetBrains Mono" pitchFamily="49" charset="0"/>
                <a:ea typeface="JetBrains Mono" pitchFamily="49" charset="-122"/>
                <a:cs typeface="JetBrains Mono" pitchFamily="49" charset="-120"/>
              </a:rPr>
              <a:t>LLAMA-3.1-8B, 8 GB OF KV</a:t>
            </a:r>
            <a:endParaRPr lang="en-US" sz="1300" dirty="0"/>
          </a:p>
        </p:txBody>
      </p:sp>
      <p:sp>
        <p:nvSpPr>
          <p:cNvPr id="7" name="Text 4"/>
          <p:cNvSpPr/>
          <p:nvPr/>
        </p:nvSpPr>
        <p:spPr>
          <a:xfrm>
            <a:off x="7239000" y="2720181"/>
            <a:ext cx="395046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9DEE6"/>
                </a:solidFill>
                <a:latin typeface="IBM Plex Sans" pitchFamily="34" charset="0"/>
                <a:ea typeface="IBM Plex Sans" pitchFamily="34" charset="-122"/>
                <a:cs typeface="IBM Plex Sans" pitchFamily="34" charset="-120"/>
              </a:rPr>
              <a:t>FP16: </a:t>
            </a:r>
            <a:r>
              <a:rPr lang="en-US" sz="1500" b="1" dirty="0">
                <a:solidFill>
                  <a:srgbClr val="D9DEE6"/>
                </a:solidFill>
                <a:latin typeface="IBM Plex Sans" pitchFamily="34" charset="0"/>
                <a:ea typeface="IBM Plex Sans" pitchFamily="34" charset="-122"/>
                <a:cs typeface="IBM Plex Sans" pitchFamily="34" charset="-120"/>
              </a:rPr>
              <a:t>65k</a:t>
            </a:r>
            <a:r>
              <a:rPr lang="en-US" sz="1500" dirty="0">
                <a:solidFill>
                  <a:srgbClr val="D9DEE6"/>
                </a:solidFill>
                <a:latin typeface="IBM Plex Sans" pitchFamily="34" charset="0"/>
                <a:ea typeface="IBM Plex Sans" pitchFamily="34" charset="-122"/>
                <a:cs typeface="IBM Plex Sans" pitchFamily="34" charset="-120"/>
              </a:rPr>
              <a:t> tokens</a:t>
            </a:r>
            <a:endParaRPr lang="en-US" sz="1500" dirty="0"/>
          </a:p>
        </p:txBody>
      </p:sp>
      <p:sp>
        <p:nvSpPr>
          <p:cNvPr id="8" name="Text 5"/>
          <p:cNvSpPr/>
          <p:nvPr/>
        </p:nvSpPr>
        <p:spPr>
          <a:xfrm>
            <a:off x="7239000" y="3088481"/>
            <a:ext cx="395046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9DEE6"/>
                </a:solidFill>
                <a:latin typeface="IBM Plex Sans" pitchFamily="34" charset="0"/>
                <a:ea typeface="IBM Plex Sans" pitchFamily="34" charset="-122"/>
                <a:cs typeface="IBM Plex Sans" pitchFamily="34" charset="-120"/>
              </a:rPr>
              <a:t>INT4 + scales: </a:t>
            </a:r>
            <a:r>
              <a:rPr lang="en-US" sz="1500" b="1" dirty="0">
                <a:solidFill>
                  <a:srgbClr val="D9DEE6"/>
                </a:solidFill>
                <a:latin typeface="IBM Plex Sans" pitchFamily="34" charset="0"/>
                <a:ea typeface="IBM Plex Sans" pitchFamily="34" charset="-122"/>
                <a:cs typeface="IBM Plex Sans" pitchFamily="34" charset="-120"/>
              </a:rPr>
              <a:t>210k</a:t>
            </a:r>
            <a:endParaRPr lang="en-US" sz="1500" dirty="0"/>
          </a:p>
        </p:txBody>
      </p:sp>
      <p:sp>
        <p:nvSpPr>
          <p:cNvPr id="9" name="Text 6"/>
          <p:cNvSpPr/>
          <p:nvPr/>
        </p:nvSpPr>
        <p:spPr>
          <a:xfrm>
            <a:off x="7239000" y="3456781"/>
            <a:ext cx="395046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5F0"/>
                </a:solidFill>
                <a:latin typeface="IBM Plex Sans" pitchFamily="34" charset="0"/>
                <a:ea typeface="IBM Plex Sans" pitchFamily="34" charset="-122"/>
                <a:cs typeface="IBM Plex Sans" pitchFamily="34" charset="-120"/>
              </a:rPr>
              <a:t>TurboQuant 4-bit: </a:t>
            </a:r>
            <a:r>
              <a:rPr lang="en-US" sz="1500" b="1" dirty="0">
                <a:solidFill>
                  <a:srgbClr val="F6F5F0"/>
                </a:solidFill>
                <a:latin typeface="IBM Plex Sans" pitchFamily="34" charset="0"/>
                <a:ea typeface="IBM Plex Sans" pitchFamily="34" charset="-122"/>
                <a:cs typeface="IBM Plex Sans" pitchFamily="34" charset="-120"/>
              </a:rPr>
              <a:t>254k</a:t>
            </a:r>
            <a:endParaRPr lang="en-US" sz="1500" dirty="0"/>
          </a:p>
        </p:txBody>
      </p:sp>
      <p:sp>
        <p:nvSpPr>
          <p:cNvPr id="10" name="Text 7"/>
          <p:cNvSpPr/>
          <p:nvPr/>
        </p:nvSpPr>
        <p:spPr>
          <a:xfrm>
            <a:off x="7239000" y="3825081"/>
            <a:ext cx="395046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5F0"/>
                </a:solidFill>
                <a:latin typeface="IBM Plex Sans" pitchFamily="34" charset="0"/>
                <a:ea typeface="IBM Plex Sans" pitchFamily="34" charset="-122"/>
                <a:cs typeface="IBM Plex Sans" pitchFamily="34" charset="-120"/>
              </a:rPr>
              <a:t>TurboQuant 2.5-bit: </a:t>
            </a:r>
            <a:r>
              <a:rPr lang="en-US" sz="1500" b="1" dirty="0">
                <a:solidFill>
                  <a:srgbClr val="F6F5F0"/>
                </a:solidFill>
                <a:latin typeface="IBM Plex Sans" pitchFamily="34" charset="0"/>
                <a:ea typeface="IBM Plex Sans" pitchFamily="34" charset="-122"/>
                <a:cs typeface="IBM Plex Sans" pitchFamily="34" charset="-120"/>
              </a:rPr>
              <a:t>381k</a:t>
            </a:r>
            <a:endParaRPr lang="en-US" sz="1500" dirty="0"/>
          </a:p>
        </p:txBody>
      </p:sp>
      <p:sp>
        <p:nvSpPr>
          <p:cNvPr id="11" name="Text 8"/>
          <p:cNvSpPr/>
          <p:nvPr/>
        </p:nvSpPr>
        <p:spPr>
          <a:xfrm>
            <a:off x="812800" y="6238280"/>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Bytes counted from the demo's bit-packed tensors, fp16 norms included. Quality, needle and speed results print live when the notebook runs on the T4.</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0088"/>
          </a:xfrm>
          <a:prstGeom prst="rect">
            <a:avLst/>
          </a:prstGeom>
          <a:noFill/>
          <a:ln/>
        </p:spPr>
        <p:txBody>
          <a:bodyPr wrap="square" lIns="0" tIns="0" rIns="0" bIns="0" rtlCol="0" anchor="t">
            <a:normAutofit/>
          </a:bodyPr>
          <a:lstStyle/>
          <a:p>
            <a:pPr algn="l" indent="0" marL="0">
              <a:lnSpc>
                <a:spcPts val="1622"/>
              </a:lnSpc>
              <a:buNone/>
            </a:pPr>
            <a:r>
              <a:rPr lang="en-US" sz="1159" spc="100" kern="0" dirty="0">
                <a:solidFill>
                  <a:srgbClr val="B4521A"/>
                </a:solidFill>
                <a:latin typeface="JetBrains Mono" pitchFamily="49" charset="0"/>
                <a:ea typeface="JetBrains Mono" pitchFamily="49" charset="-122"/>
                <a:cs typeface="JetBrains Mono" pitchFamily="49" charset="-120"/>
              </a:rPr>
              <a:t>DEMO 2 · VECTOR SEARCH, MEASURED</a:t>
            </a:r>
            <a:endParaRPr lang="en-US" sz="1159" dirty="0"/>
          </a:p>
        </p:txBody>
      </p:sp>
      <p:sp>
        <p:nvSpPr>
          <p:cNvPr id="3" name="Text 1"/>
          <p:cNvSpPr/>
          <p:nvPr>
            <p:ph type="title"/>
          </p:nvPr>
        </p:nvSpPr>
        <p:spPr>
          <a:xfrm>
            <a:off x="812800" y="1271488"/>
            <a:ext cx="10883392" cy="882848"/>
          </a:xfrm>
          <a:prstGeom prst="rect">
            <a:avLst/>
          </a:prstGeom>
          <a:noFill/>
          <a:ln/>
        </p:spPr>
        <p:txBody>
          <a:bodyPr wrap="square" lIns="0" tIns="0" rIns="0" bIns="0" rtlCol="0" anchor="t">
            <a:normAutofit/>
          </a:bodyPr>
          <a:lstStyle/>
          <a:p>
            <a:pPr algn="l" indent="0" marL="0">
              <a:lnSpc>
                <a:spcPts val="3377"/>
              </a:lnSpc>
              <a:buNone/>
            </a:pPr>
            <a:r>
              <a:rPr lang="en-US" sz="3070" b="1" i="0" dirty="0">
                <a:solidFill>
                  <a:srgbClr val="0F1B2D"/>
                </a:solidFill>
                <a:latin typeface="IBM Plex Sans" pitchFamily="34" charset="0"/>
                <a:ea typeface="IBM Plex Sans" pitchFamily="34" charset="-122"/>
                <a:cs typeface="IBM Plex Sans" pitchFamily="34" charset="-120"/>
              </a:rPr>
              <a:t>TurboQuant beats every trained baseline at both bit-widths</a:t>
            </a:r>
            <a:endParaRPr lang="en-US" sz="307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395637"/>
          <a:ext cx="10553700" cy="3450828"/>
        </p:xfrm>
        <a:graphic>
          <a:graphicData uri="http://schemas.openxmlformats.org/drawingml/2006/table">
            <a:tbl>
              <a:tblPr/>
              <a:tblGrid>
                <a:gridCol w="3588258"/>
                <a:gridCol w="949833"/>
                <a:gridCol w="1160907"/>
                <a:gridCol w="1266444"/>
                <a:gridCol w="1160907"/>
                <a:gridCol w="1160907"/>
                <a:gridCol w="1266444"/>
              </a:tblGrid>
              <a:tr h="345083">
                <a:tc>
                  <a:txBody>
                    <a:bodyPr/>
                    <a:lstStyle/>
                    <a:p>
                      <a:pPr indent="0" marL="0">
                        <a:lnSpc>
                          <a:spcPts val="1746"/>
                        </a:lnSpc>
                        <a:buNone/>
                      </a:pPr>
                      <a:r>
                        <a:rPr lang="en-US" sz="1247" b="1" dirty="0">
                          <a:solidFill>
                            <a:srgbClr val="1B2433"/>
                          </a:solidFill>
                          <a:latin typeface="IBM Plex Sans" pitchFamily="34" charset="0"/>
                          <a:ea typeface="IBM Plex Sans" pitchFamily="34" charset="-122"/>
                          <a:cs typeface="IBM Plex Sans" pitchFamily="34" charset="-120"/>
                        </a:rPr>
                        <a:t>Method</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746"/>
                        </a:lnSpc>
                        <a:buNone/>
                      </a:pPr>
                      <a:r>
                        <a:rPr lang="en-US" sz="1247" b="1" dirty="0">
                          <a:solidFill>
                            <a:srgbClr val="1B2433"/>
                          </a:solidFill>
                          <a:latin typeface="IBM Plex Sans" pitchFamily="34" charset="0"/>
                          <a:ea typeface="IBM Plex Sans" pitchFamily="34" charset="-122"/>
                          <a:cs typeface="IBM Plex Sans" pitchFamily="34" charset="-120"/>
                        </a:rPr>
                        <a:t>Bits</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746"/>
                        </a:lnSpc>
                        <a:buNone/>
                      </a:pPr>
                      <a:r>
                        <a:rPr lang="en-US" sz="1247" b="1" dirty="0">
                          <a:solidFill>
                            <a:srgbClr val="1B2433"/>
                          </a:solidFill>
                          <a:latin typeface="IBM Plex Sans" pitchFamily="34" charset="0"/>
                          <a:ea typeface="IBM Plex Sans" pitchFamily="34" charset="-122"/>
                          <a:cs typeface="IBM Plex Sans" pitchFamily="34" charset="-120"/>
                        </a:rPr>
                        <a:t>Smaller</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746"/>
                        </a:lnSpc>
                        <a:buNone/>
                      </a:pPr>
                      <a:r>
                        <a:rPr lang="en-US" sz="1247" b="1" dirty="0">
                          <a:solidFill>
                            <a:srgbClr val="1B2433"/>
                          </a:solidFill>
                          <a:latin typeface="IBM Plex Sans" pitchFamily="34" charset="0"/>
                          <a:ea typeface="IBM Plex Sans" pitchFamily="34" charset="-122"/>
                          <a:cs typeface="IBM Plex Sans" pitchFamily="34" charset="-120"/>
                        </a:rPr>
                        <a:t>Build (s)</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746"/>
                        </a:lnSpc>
                        <a:buNone/>
                      </a:pPr>
                      <a:r>
                        <a:rPr lang="en-US" sz="1247" b="1" dirty="0">
                          <a:solidFill>
                            <a:srgbClr val="1B2433"/>
                          </a:solidFill>
                          <a:latin typeface="IBM Plex Sans" pitchFamily="34" charset="0"/>
                          <a:ea typeface="IBM Plex Sans" pitchFamily="34" charset="-122"/>
                          <a:cs typeface="IBM Plex Sans" pitchFamily="34" charset="-120"/>
                        </a:rPr>
                        <a:t>QPS</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746"/>
                        </a:lnSpc>
                        <a:buNone/>
                      </a:pPr>
                      <a:r>
                        <a:rPr lang="en-US" sz="1247" b="1" dirty="0">
                          <a:solidFill>
                            <a:srgbClr val="1B2433"/>
                          </a:solidFill>
                          <a:latin typeface="IBM Plex Sans" pitchFamily="34" charset="0"/>
                          <a:ea typeface="IBM Plex Sans" pitchFamily="34" charset="-122"/>
                          <a:cs typeface="IBM Plex Sans" pitchFamily="34" charset="-120"/>
                        </a:rPr>
                        <a:t>R1@1</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746"/>
                        </a:lnSpc>
                        <a:buNone/>
                      </a:pPr>
                      <a:r>
                        <a:rPr lang="en-US" sz="1247" b="1" dirty="0">
                          <a:solidFill>
                            <a:srgbClr val="1B2433"/>
                          </a:solidFill>
                          <a:latin typeface="IBM Plex Sans" pitchFamily="34" charset="0"/>
                          <a:ea typeface="IBM Plex Sans" pitchFamily="34" charset="-122"/>
                          <a:cs typeface="IBM Plex Sans" pitchFamily="34" charset="-120"/>
                        </a:rPr>
                        <a:t>10@10</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45083">
                <a:tc>
                  <a:txBody>
                    <a:bodyPr/>
                    <a:lstStyle/>
                    <a:p>
                      <a:pP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turbovec</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4</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7.7x</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0.9</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10,008</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0.944</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0.951</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r h="345083">
                <a:tc>
                  <a:txBody>
                    <a:bodyPr/>
                    <a:lstStyle/>
                    <a:p>
                      <a:pP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TurboQuant_mse (PyTorch)</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4</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7.9x</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0.9</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950</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0.912</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0.934</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r h="345083">
                <a:tc>
                  <a:txBody>
                    <a:bodyPr/>
                    <a:lstStyle/>
                    <a:p>
                      <a:pP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FAISS RaBitQ</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4</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7.2x</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1.4</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862</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0.871</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0.891</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45083">
                <a:tc>
                  <a:txBody>
                    <a:bodyPr/>
                    <a:lstStyle/>
                    <a:p>
                      <a:pP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FAISS PQ, LUT256</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4</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8.0x</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83.4</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390</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0.818</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0.870</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45083">
                <a:tc>
                  <a:txBody>
                    <a:bodyPr/>
                    <a:lstStyle/>
                    <a:p>
                      <a:pP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FAISS PQ-FastScan</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4</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8.0x</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4.4</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3,784</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0.728</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0.808</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45083">
                <a:tc>
                  <a:txBody>
                    <a:bodyPr/>
                    <a:lstStyle/>
                    <a:p>
                      <a:pP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turbovec</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2</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15.0x</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0.8</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9,340</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0.799</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0.832</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r h="345083">
                <a:tc>
                  <a:txBody>
                    <a:bodyPr/>
                    <a:lstStyle/>
                    <a:p>
                      <a:pP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TurboQuant_mse (PyTorch)</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2</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15.7x</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0.7</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1,039</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0.715</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0.802</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r h="345083">
                <a:tc>
                  <a:txBody>
                    <a:bodyPr/>
                    <a:lstStyle/>
                    <a:p>
                      <a:pP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FAISS RaBitQ</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2</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13.2x</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0.9</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1,717</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0.623</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0.704</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8BA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45083">
                <a:tc>
                  <a:txBody>
                    <a:bodyPr/>
                    <a:lstStyle/>
                    <a:p>
                      <a:pP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FAISS PQ, LUT256</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2</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16.0x</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6.6</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930</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0.612</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746"/>
                        </a:lnSpc>
                        <a:buNone/>
                      </a:pPr>
                      <a:r>
                        <a:rPr lang="en-US" sz="1247" dirty="0">
                          <a:solidFill>
                            <a:srgbClr val="1B2433"/>
                          </a:solidFill>
                          <a:latin typeface="IBM Plex Sans" pitchFamily="34" charset="0"/>
                          <a:ea typeface="IBM Plex Sans" pitchFamily="34" charset="-122"/>
                          <a:cs typeface="IBM Plex Sans" pitchFamily="34" charset="-120"/>
                        </a:rPr>
                        <a:t>0.724</a:t>
                      </a:r>
                      <a:endParaRPr lang="en-US" sz="1247" dirty="0">
                        <a:latin typeface="IBM Plex Sans" charset="0"/>
                        <a:ea typeface="IBM Plex Sans" charset="0"/>
                        <a:cs typeface="IBM Plex Sans" charset="0"/>
                      </a:endParaRPr>
                    </a:p>
                  </a:txBody>
                  <a:tcPr marL="55437" marR="55437" marT="55437" marB="5543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5" name="Text 2"/>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100k database + 1k queries, 384-d embeddings of real text (Reuters, Gutenberg, Brown; TF-IDF + SVD), 4 CPU threads. Exact search: 857 QPS. Colab default is DBpedia OpenAI-1536.</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21A"/>
                </a:solidFill>
                <a:latin typeface="JetBrains Mono" pitchFamily="49" charset="0"/>
                <a:ea typeface="JetBrains Mono" pitchFamily="49" charset="-122"/>
                <a:cs typeface="JetBrains Mono" pitchFamily="49" charset="-120"/>
              </a:rPr>
              <a:t>DEMO 2 · WHAT IT MEANS</a:t>
            </a:r>
            <a:endParaRPr lang="en-US" sz="1200" dirty="0"/>
          </a:p>
        </p:txBody>
      </p:sp>
      <p:sp>
        <p:nvSpPr>
          <p:cNvPr id="3" name="Text 1"/>
          <p:cNvSpPr/>
          <p:nvPr>
            <p:ph type="title"/>
          </p:nvPr>
        </p:nvSpPr>
        <p:spPr>
          <a:xfrm>
            <a:off x="812800" y="12801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More recall, no training, and exact results after a cheap re-rank</a:t>
            </a:r>
            <a:endParaRPr lang="en-US" sz="3200" dirty="0"/>
          </a:p>
        </p:txBody>
      </p:sp>
      <p:sp>
        <p:nvSpPr>
          <p:cNvPr id="4" name="Text 2"/>
          <p:cNvSpPr/>
          <p:nvPr/>
        </p:nvSpPr>
        <p:spPr>
          <a:xfrm>
            <a:off x="812800" y="2428081"/>
            <a:ext cx="6310254" cy="108645"/>
          </a:xfrm>
          <a:prstGeom prst="rect">
            <a:avLst/>
          </a:prstGeom>
          <a:noFill/>
          <a:ln/>
        </p:spPr>
        <p:txBody>
          <a:bodyPr wrap="square" lIns="0" tIns="0" rIns="0" bIns="0" rtlCol="0" anchor="t">
            <a:normAutofit/>
          </a:bodyPr>
          <a:lstStyle/>
          <a:p>
            <a:pPr algn="l" indent="0" marL="0">
              <a:lnSpc>
                <a:spcPts val="1152"/>
              </a:lnSpc>
              <a:buNone/>
            </a:pPr>
            <a:r>
              <a:rPr lang="en-US" sz="960" b="1" dirty="0">
                <a:solidFill>
                  <a:srgbClr val="0F1B2D"/>
                </a:solidFill>
                <a:latin typeface="IBM Plex Sans" pitchFamily="34" charset="0"/>
                <a:ea typeface="IBM Plex Sans" pitchFamily="34" charset="-122"/>
                <a:cs typeface="IBM Plex Sans" pitchFamily="34" charset="-120"/>
              </a:rPr>
              <a:t>Recall@1@1 at 4 bits</a:t>
            </a:r>
            <a:endParaRPr lang="en-US" sz="960" dirty="0"/>
          </a:p>
        </p:txBody>
      </p:sp>
      <p:sp>
        <p:nvSpPr>
          <p:cNvPr id="5" name="Text 3"/>
          <p:cNvSpPr/>
          <p:nvPr/>
        </p:nvSpPr>
        <p:spPr>
          <a:xfrm>
            <a:off x="812800" y="2720181"/>
            <a:ext cx="196215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turbovec</a:t>
            </a:r>
            <a:endParaRPr lang="en-US" sz="1300" dirty="0"/>
          </a:p>
        </p:txBody>
      </p:sp>
      <p:sp>
        <p:nvSpPr>
          <p:cNvPr id="6" name="Shape 4"/>
          <p:cNvSpPr/>
          <p:nvPr/>
        </p:nvSpPr>
        <p:spPr>
          <a:xfrm>
            <a:off x="2844800" y="2695972"/>
            <a:ext cx="5397500" cy="279400"/>
          </a:xfrm>
          <a:prstGeom prst="roundRect">
            <a:avLst>
              <a:gd name="adj" fmla="val 13636"/>
            </a:avLst>
          </a:prstGeom>
          <a:solidFill>
            <a:srgbClr val="B4521A"/>
          </a:solidFill>
          <a:ln/>
        </p:spPr>
      </p:sp>
      <p:sp>
        <p:nvSpPr>
          <p:cNvPr id="7" name="Text 5"/>
          <p:cNvSpPr/>
          <p:nvPr/>
        </p:nvSpPr>
        <p:spPr>
          <a:xfrm>
            <a:off x="8369300" y="2258020"/>
            <a:ext cx="50800" cy="118080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2433"/>
                </a:solidFill>
                <a:latin typeface="IBM Plex Sans" pitchFamily="34" charset="0"/>
                <a:ea typeface="IBM Plex Sans" pitchFamily="34" charset="-122"/>
                <a:cs typeface="IBM Plex Sans" pitchFamily="34" charset="-120"/>
              </a:rPr>
              <a:t>0.944</a:t>
            </a:r>
            <a:endParaRPr lang="en-US" sz="1300" dirty="0"/>
          </a:p>
        </p:txBody>
      </p:sp>
      <p:sp>
        <p:nvSpPr>
          <p:cNvPr id="8" name="Text 6"/>
          <p:cNvSpPr/>
          <p:nvPr/>
        </p:nvSpPr>
        <p:spPr>
          <a:xfrm>
            <a:off x="812800" y="3241973"/>
            <a:ext cx="196215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TurboQuant (PyTorch)</a:t>
            </a:r>
            <a:endParaRPr lang="en-US" sz="1300" dirty="0"/>
          </a:p>
        </p:txBody>
      </p:sp>
      <p:sp>
        <p:nvSpPr>
          <p:cNvPr id="9" name="Shape 7"/>
          <p:cNvSpPr/>
          <p:nvPr/>
        </p:nvSpPr>
        <p:spPr>
          <a:xfrm>
            <a:off x="2844800" y="3217763"/>
            <a:ext cx="5213350" cy="279400"/>
          </a:xfrm>
          <a:prstGeom prst="roundRect">
            <a:avLst>
              <a:gd name="adj" fmla="val 13636"/>
            </a:avLst>
          </a:prstGeom>
          <a:solidFill>
            <a:srgbClr val="B4521A"/>
          </a:solidFill>
          <a:ln/>
        </p:spPr>
      </p:sp>
      <p:sp>
        <p:nvSpPr>
          <p:cNvPr id="10" name="Text 8"/>
          <p:cNvSpPr/>
          <p:nvPr/>
        </p:nvSpPr>
        <p:spPr>
          <a:xfrm>
            <a:off x="8185150" y="2779812"/>
            <a:ext cx="50800" cy="118080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2433"/>
                </a:solidFill>
                <a:latin typeface="IBM Plex Sans" pitchFamily="34" charset="0"/>
                <a:ea typeface="IBM Plex Sans" pitchFamily="34" charset="-122"/>
                <a:cs typeface="IBM Plex Sans" pitchFamily="34" charset="-120"/>
              </a:rPr>
              <a:t>0.912</a:t>
            </a:r>
            <a:endParaRPr lang="en-US" sz="1300" dirty="0"/>
          </a:p>
        </p:txBody>
      </p:sp>
      <p:sp>
        <p:nvSpPr>
          <p:cNvPr id="11" name="Text 9"/>
          <p:cNvSpPr/>
          <p:nvPr/>
        </p:nvSpPr>
        <p:spPr>
          <a:xfrm>
            <a:off x="812800" y="3763764"/>
            <a:ext cx="196215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FAISS RaBitQ</a:t>
            </a:r>
            <a:endParaRPr lang="en-US" sz="1300" dirty="0"/>
          </a:p>
        </p:txBody>
      </p:sp>
      <p:sp>
        <p:nvSpPr>
          <p:cNvPr id="12" name="Shape 10"/>
          <p:cNvSpPr/>
          <p:nvPr/>
        </p:nvSpPr>
        <p:spPr>
          <a:xfrm>
            <a:off x="2844800" y="3739555"/>
            <a:ext cx="4978400" cy="279400"/>
          </a:xfrm>
          <a:prstGeom prst="roundRect">
            <a:avLst>
              <a:gd name="adj" fmla="val 13636"/>
            </a:avLst>
          </a:prstGeom>
          <a:solidFill>
            <a:srgbClr val="2F6DB5"/>
          </a:solidFill>
          <a:ln/>
        </p:spPr>
      </p:sp>
      <p:sp>
        <p:nvSpPr>
          <p:cNvPr id="13" name="Text 11"/>
          <p:cNvSpPr/>
          <p:nvPr/>
        </p:nvSpPr>
        <p:spPr>
          <a:xfrm>
            <a:off x="7950200" y="3301603"/>
            <a:ext cx="50800" cy="118080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0.871</a:t>
            </a:r>
            <a:endParaRPr lang="en-US" sz="1300" dirty="0"/>
          </a:p>
        </p:txBody>
      </p:sp>
      <p:sp>
        <p:nvSpPr>
          <p:cNvPr id="14" name="Text 12"/>
          <p:cNvSpPr/>
          <p:nvPr/>
        </p:nvSpPr>
        <p:spPr>
          <a:xfrm>
            <a:off x="812800" y="4285555"/>
            <a:ext cx="196215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FAISS PQ, LUT256</a:t>
            </a:r>
            <a:endParaRPr lang="en-US" sz="1300" dirty="0"/>
          </a:p>
        </p:txBody>
      </p:sp>
      <p:sp>
        <p:nvSpPr>
          <p:cNvPr id="15" name="Shape 13"/>
          <p:cNvSpPr/>
          <p:nvPr/>
        </p:nvSpPr>
        <p:spPr>
          <a:xfrm>
            <a:off x="2844800" y="4261346"/>
            <a:ext cx="4673600" cy="279400"/>
          </a:xfrm>
          <a:prstGeom prst="roundRect">
            <a:avLst>
              <a:gd name="adj" fmla="val 13636"/>
            </a:avLst>
          </a:prstGeom>
          <a:solidFill>
            <a:srgbClr val="2F6DB5"/>
          </a:solidFill>
          <a:ln/>
        </p:spPr>
      </p:sp>
      <p:sp>
        <p:nvSpPr>
          <p:cNvPr id="16" name="Text 14"/>
          <p:cNvSpPr/>
          <p:nvPr/>
        </p:nvSpPr>
        <p:spPr>
          <a:xfrm>
            <a:off x="7645400" y="3823395"/>
            <a:ext cx="50800" cy="118080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0.818</a:t>
            </a:r>
            <a:endParaRPr lang="en-US" sz="1300" dirty="0"/>
          </a:p>
        </p:txBody>
      </p:sp>
      <p:sp>
        <p:nvSpPr>
          <p:cNvPr id="17" name="Text 15"/>
          <p:cNvSpPr/>
          <p:nvPr/>
        </p:nvSpPr>
        <p:spPr>
          <a:xfrm>
            <a:off x="812800" y="4807347"/>
            <a:ext cx="196215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FAISS SQ 4-bit</a:t>
            </a:r>
            <a:endParaRPr lang="en-US" sz="1300" dirty="0"/>
          </a:p>
        </p:txBody>
      </p:sp>
      <p:sp>
        <p:nvSpPr>
          <p:cNvPr id="18" name="Shape 16"/>
          <p:cNvSpPr/>
          <p:nvPr/>
        </p:nvSpPr>
        <p:spPr>
          <a:xfrm>
            <a:off x="2844800" y="4783138"/>
            <a:ext cx="4654550" cy="279400"/>
          </a:xfrm>
          <a:prstGeom prst="roundRect">
            <a:avLst>
              <a:gd name="adj" fmla="val 13636"/>
            </a:avLst>
          </a:prstGeom>
          <a:solidFill>
            <a:srgbClr val="2F6DB5"/>
          </a:solidFill>
          <a:ln/>
        </p:spPr>
      </p:sp>
      <p:sp>
        <p:nvSpPr>
          <p:cNvPr id="19" name="Text 17"/>
          <p:cNvSpPr/>
          <p:nvPr/>
        </p:nvSpPr>
        <p:spPr>
          <a:xfrm>
            <a:off x="7626350" y="4345186"/>
            <a:ext cx="50800" cy="118080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0.814</a:t>
            </a:r>
            <a:endParaRPr lang="en-US" sz="1300" dirty="0"/>
          </a:p>
        </p:txBody>
      </p:sp>
      <p:sp>
        <p:nvSpPr>
          <p:cNvPr id="20" name="Text 18"/>
          <p:cNvSpPr/>
          <p:nvPr/>
        </p:nvSpPr>
        <p:spPr>
          <a:xfrm>
            <a:off x="812800" y="5329138"/>
            <a:ext cx="196215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FAISS PQ-FastScan</a:t>
            </a:r>
            <a:endParaRPr lang="en-US" sz="1300" dirty="0"/>
          </a:p>
        </p:txBody>
      </p:sp>
      <p:sp>
        <p:nvSpPr>
          <p:cNvPr id="21" name="Shape 19"/>
          <p:cNvSpPr/>
          <p:nvPr/>
        </p:nvSpPr>
        <p:spPr>
          <a:xfrm>
            <a:off x="2844800" y="5304929"/>
            <a:ext cx="4159250" cy="279400"/>
          </a:xfrm>
          <a:prstGeom prst="roundRect">
            <a:avLst>
              <a:gd name="adj" fmla="val 13636"/>
            </a:avLst>
          </a:prstGeom>
          <a:solidFill>
            <a:srgbClr val="2F6DB5"/>
          </a:solidFill>
          <a:ln/>
        </p:spPr>
      </p:sp>
      <p:sp>
        <p:nvSpPr>
          <p:cNvPr id="22" name="Text 20"/>
          <p:cNvSpPr/>
          <p:nvPr/>
        </p:nvSpPr>
        <p:spPr>
          <a:xfrm>
            <a:off x="7131050" y="4866977"/>
            <a:ext cx="50800" cy="118080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0.728</a:t>
            </a:r>
            <a:endParaRPr lang="en-US" sz="1300" dirty="0"/>
          </a:p>
        </p:txBody>
      </p:sp>
      <p:sp>
        <p:nvSpPr>
          <p:cNvPr id="23" name="Text 21"/>
          <p:cNvSpPr/>
          <p:nvPr/>
        </p:nvSpPr>
        <p:spPr>
          <a:xfrm>
            <a:off x="812800" y="5769074"/>
            <a:ext cx="6310254" cy="98326"/>
          </a:xfrm>
          <a:prstGeom prst="rect">
            <a:avLst/>
          </a:prstGeom>
          <a:noFill/>
          <a:ln/>
        </p:spPr>
        <p:txBody>
          <a:bodyPr wrap="square" lIns="0" tIns="0" rIns="0" bIns="0" rtlCol="0" anchor="t">
            <a:normAutofit/>
          </a:bodyPr>
          <a:lstStyle/>
          <a:p>
            <a:pPr algn="l" indent="0" marL="0">
              <a:lnSpc>
                <a:spcPts val="1008"/>
              </a:lnSpc>
              <a:buNone/>
            </a:pPr>
            <a:r>
              <a:rPr lang="en-US" sz="720" dirty="0">
                <a:solidFill>
                  <a:srgbClr val="5F6979"/>
                </a:solidFill>
                <a:latin typeface="IBM Plex Sans" pitchFamily="34" charset="0"/>
                <a:ea typeface="IBM Plex Sans" pitchFamily="34" charset="-122"/>
                <a:cs typeface="IBM Plex Sans" pitchFamily="34" charset="-120"/>
              </a:rPr>
              <a:t>Orange: TurboQuant. Blue: trained or calibrated baselines.</a:t>
            </a:r>
            <a:endParaRPr lang="en-US" sz="720" dirty="0"/>
          </a:p>
        </p:txBody>
      </p:sp>
      <p:sp>
        <p:nvSpPr>
          <p:cNvPr id="24" name="Shape 22"/>
          <p:cNvSpPr/>
          <p:nvPr/>
        </p:nvSpPr>
        <p:spPr>
          <a:xfrm>
            <a:off x="7294860" y="2428081"/>
            <a:ext cx="4084340" cy="1445220"/>
          </a:xfrm>
          <a:prstGeom prst="roundRect">
            <a:avLst>
              <a:gd name="adj" fmla="val 7030"/>
            </a:avLst>
          </a:prstGeom>
          <a:solidFill>
            <a:srgbClr val="0F1B2D"/>
          </a:solidFill>
          <a:ln/>
        </p:spPr>
      </p:sp>
      <p:sp>
        <p:nvSpPr>
          <p:cNvPr id="25" name="Text 23"/>
          <p:cNvSpPr/>
          <p:nvPr/>
        </p:nvSpPr>
        <p:spPr>
          <a:xfrm>
            <a:off x="7523460" y="2656681"/>
            <a:ext cx="3735954"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2A35E"/>
                </a:solidFill>
                <a:latin typeface="IBM Plex Sans" pitchFamily="34" charset="0"/>
                <a:ea typeface="IBM Plex Sans" pitchFamily="34" charset="-122"/>
                <a:cs typeface="IBM Plex Sans" pitchFamily="34" charset="-120"/>
              </a:rPr>
              <a:t>1.000</a:t>
            </a:r>
            <a:endParaRPr lang="en-US" sz="3600" dirty="0"/>
          </a:p>
        </p:txBody>
      </p:sp>
      <p:sp>
        <p:nvSpPr>
          <p:cNvPr id="26" name="Text 24"/>
          <p:cNvSpPr/>
          <p:nvPr/>
        </p:nvSpPr>
        <p:spPr>
          <a:xfrm>
            <a:off x="7523460" y="3164681"/>
            <a:ext cx="3735954"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EE6"/>
                </a:solidFill>
                <a:latin typeface="IBM Plex Sans" pitchFamily="34" charset="0"/>
                <a:ea typeface="IBM Plex Sans" pitchFamily="34" charset="-122"/>
                <a:cs typeface="IBM Plex Sans" pitchFamily="34" charset="-120"/>
              </a:rPr>
              <a:t>Recall@1 when turbovec's top-100 is re-ranked with exact vectors.</a:t>
            </a:r>
            <a:endParaRPr lang="en-US" sz="1400" dirty="0"/>
          </a:p>
        </p:txBody>
      </p:sp>
      <p:sp>
        <p:nvSpPr>
          <p:cNvPr id="27" name="Shape 25"/>
          <p:cNvSpPr/>
          <p:nvPr/>
        </p:nvSpPr>
        <p:spPr>
          <a:xfrm>
            <a:off x="7298035" y="4028877"/>
            <a:ext cx="4077990" cy="1691580"/>
          </a:xfrm>
          <a:prstGeom prst="roundRect">
            <a:avLst>
              <a:gd name="adj" fmla="val 5819"/>
            </a:avLst>
          </a:prstGeom>
          <a:solidFill>
            <a:srgbClr val="FDFCF9"/>
          </a:solidFill>
          <a:ln w="6350">
            <a:solidFill>
              <a:srgbClr val="E2DFD6"/>
            </a:solidFill>
            <a:prstDash val="solid"/>
          </a:ln>
        </p:spPr>
      </p:sp>
      <p:sp>
        <p:nvSpPr>
          <p:cNvPr id="28" name="Text 26"/>
          <p:cNvSpPr/>
          <p:nvPr/>
        </p:nvSpPr>
        <p:spPr>
          <a:xfrm>
            <a:off x="7529810" y="4260652"/>
            <a:ext cx="3722873"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0F1B2D"/>
                </a:solidFill>
                <a:latin typeface="IBM Plex Sans" pitchFamily="34" charset="0"/>
                <a:ea typeface="IBM Plex Sans" pitchFamily="34" charset="-122"/>
                <a:cs typeface="IBM Plex Sans" pitchFamily="34" charset="-120"/>
              </a:rPr>
              <a:t>0.14 s</a:t>
            </a:r>
            <a:endParaRPr lang="en-US" sz="3600" dirty="0"/>
          </a:p>
        </p:txBody>
      </p:sp>
      <p:sp>
        <p:nvSpPr>
          <p:cNvPr id="29" name="Text 27"/>
          <p:cNvSpPr/>
          <p:nvPr/>
        </p:nvSpPr>
        <p:spPr>
          <a:xfrm>
            <a:off x="7529810" y="4768652"/>
            <a:ext cx="3722873"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4556"/>
                </a:solidFill>
                <a:latin typeface="IBM Plex Sans" pitchFamily="34" charset="0"/>
                <a:ea typeface="IBM Plex Sans" pitchFamily="34" charset="-122"/>
                <a:cs typeface="IBM Plex Sans" pitchFamily="34" charset="-120"/>
              </a:rPr>
              <a:t>to stream 100k vectors into turbovec in batches of 1,000. PQ 4-bit needed 83 s of training first.</a:t>
            </a:r>
            <a:endParaRPr lang="en-US" sz="1400" dirty="0"/>
          </a:p>
        </p:txBody>
      </p:sp>
      <p:sp>
        <p:nvSpPr>
          <p:cNvPr id="30" name="Text 2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Same run as the previous slide.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21A"/>
                </a:solidFill>
                <a:latin typeface="JetBrains Mono" pitchFamily="49" charset="0"/>
                <a:ea typeface="JetBrains Mono" pitchFamily="49" charset="-122"/>
                <a:cs typeface="JetBrains Mono" pitchFamily="49" charset="-120"/>
              </a:rPr>
              <a:t>PRACTICAL GUIDANCE</a:t>
            </a:r>
            <a:endParaRPr lang="en-US" sz="1200" dirty="0"/>
          </a:p>
        </p:txBody>
      </p:sp>
      <p:sp>
        <p:nvSpPr>
          <p:cNvPr id="3" name="Text 1"/>
          <p:cNvSpPr/>
          <p:nvPr>
            <p:ph type="title"/>
          </p:nvPr>
        </p:nvSpPr>
        <p:spPr>
          <a:xfrm>
            <a:off x="812800" y="13309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Where to start</a:t>
            </a:r>
            <a:endParaRPr lang="en-US" sz="3200" dirty="0"/>
          </a:p>
        </p:txBody>
      </p:sp>
      <p:sp>
        <p:nvSpPr>
          <p:cNvPr id="4" name="Shape 2"/>
          <p:cNvSpPr/>
          <p:nvPr/>
        </p:nvSpPr>
        <p:spPr>
          <a:xfrm>
            <a:off x="815975" y="2085876"/>
            <a:ext cx="5175250" cy="2981325"/>
          </a:xfrm>
          <a:prstGeom prst="roundRect">
            <a:avLst>
              <a:gd name="adj" fmla="val 3301"/>
            </a:avLst>
          </a:prstGeom>
          <a:solidFill>
            <a:srgbClr val="FDFCF9"/>
          </a:solidFill>
          <a:ln w="6350">
            <a:solidFill>
              <a:srgbClr val="E2DFD6"/>
            </a:solidFill>
            <a:prstDash val="solid"/>
          </a:ln>
        </p:spPr>
      </p:sp>
      <p:sp>
        <p:nvSpPr>
          <p:cNvPr id="5" name="Text 3"/>
          <p:cNvSpPr/>
          <p:nvPr/>
        </p:nvSpPr>
        <p:spPr>
          <a:xfrm>
            <a:off x="1123950" y="2393851"/>
            <a:ext cx="469607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KV cache</a:t>
            </a:r>
            <a:endParaRPr lang="en-US" sz="2000" dirty="0"/>
          </a:p>
        </p:txBody>
      </p:sp>
      <p:sp>
        <p:nvSpPr>
          <p:cNvPr id="6" name="Text 4"/>
          <p:cNvSpPr/>
          <p:nvPr/>
        </p:nvSpPr>
        <p:spPr>
          <a:xfrm>
            <a:off x="1195070" y="2825651"/>
            <a:ext cx="4617339" cy="1958975"/>
          </a:xfrm>
          <a:prstGeom prst="rect">
            <a:avLst/>
          </a:prstGeom>
          <a:noFill/>
          <a:ln/>
        </p:spPr>
        <p:txBody>
          <a:bodyPr wrap="square" lIns="0" tIns="0" rIns="0" bIns="0" rtlCol="0" anchor="t">
            <a:normAutofit/>
          </a:bodyPr>
          <a:lstStyle/>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Start at 4 bits; try 3.5 and 2.5 with outlier channels.</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Use the MSE variant for keys: the QJL bit adds variance that softmax amplifies at low bits.</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Serve with vLLM's fused kernels on Ampere or Hopper.</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Run your reasoning evals before going to 3 bits.</a:t>
            </a:r>
            <a:endParaRPr lang="en-US" sz="1500" dirty="0"/>
          </a:p>
        </p:txBody>
      </p:sp>
      <p:sp>
        <p:nvSpPr>
          <p:cNvPr id="7" name="Shape 5"/>
          <p:cNvSpPr/>
          <p:nvPr/>
        </p:nvSpPr>
        <p:spPr>
          <a:xfrm>
            <a:off x="6200775" y="2085876"/>
            <a:ext cx="5175250" cy="2981325"/>
          </a:xfrm>
          <a:prstGeom prst="roundRect">
            <a:avLst>
              <a:gd name="adj" fmla="val 3301"/>
            </a:avLst>
          </a:prstGeom>
          <a:solidFill>
            <a:srgbClr val="FDFCF9"/>
          </a:solidFill>
          <a:ln w="6350">
            <a:solidFill>
              <a:srgbClr val="E2DFD6"/>
            </a:solidFill>
            <a:prstDash val="solid"/>
          </a:ln>
        </p:spPr>
      </p:sp>
      <p:sp>
        <p:nvSpPr>
          <p:cNvPr id="8" name="Text 6"/>
          <p:cNvSpPr/>
          <p:nvPr/>
        </p:nvSpPr>
        <p:spPr>
          <a:xfrm>
            <a:off x="6508750" y="2393851"/>
            <a:ext cx="469607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Vector search</a:t>
            </a:r>
            <a:endParaRPr lang="en-US" sz="2000" dirty="0"/>
          </a:p>
        </p:txBody>
      </p:sp>
      <p:sp>
        <p:nvSpPr>
          <p:cNvPr id="9" name="Text 7"/>
          <p:cNvSpPr/>
          <p:nvPr/>
        </p:nvSpPr>
        <p:spPr>
          <a:xfrm>
            <a:off x="6579870" y="2825651"/>
            <a:ext cx="4617339" cy="1958975"/>
          </a:xfrm>
          <a:prstGeom prst="rect">
            <a:avLst/>
          </a:prstGeom>
          <a:noFill/>
          <a:ln/>
        </p:spPr>
        <p:txBody>
          <a:bodyPr wrap="square" lIns="0" tIns="0" rIns="0" bIns="0" rtlCol="0" anchor="t">
            <a:normAutofit/>
          </a:bodyPr>
          <a:lstStyle/>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turbovec at 4 bits: 8x smaller than float32 with high recall.</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Re-rank the top 100 with exact vectors for near-perfect results.</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2 bits gives 16x when recall@8 or higher is what matters.</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No training: ingest online, never re-index on drift.</a:t>
            </a:r>
            <a:endParaRPr lang="en-US" sz="15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The keys advice is inferred from the demo's error measurements and from vLLM shipping MSE plus norm-correction variants.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21A"/>
                </a:solidFill>
                <a:latin typeface="JetBrains Mono" pitchFamily="49" charset="0"/>
                <a:ea typeface="JetBrains Mono" pitchFamily="49" charset="-122"/>
                <a:cs typeface="JetBrains Mono" pitchFamily="49" charset="-120"/>
              </a:rPr>
              <a:t>RUN IT YOURSELF</a:t>
            </a:r>
            <a:endParaRPr lang="en-US" sz="1200" dirty="0"/>
          </a:p>
        </p:txBody>
      </p:sp>
      <p:sp>
        <p:nvSpPr>
          <p:cNvPr id="3" name="Text 1"/>
          <p:cNvSpPr/>
          <p:nvPr>
            <p:ph type="title"/>
          </p:nvPr>
        </p:nvSpPr>
        <p:spPr>
          <a:xfrm>
            <a:off x="812800" y="13309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Upload a notebook to Colab and press Run all</a:t>
            </a:r>
            <a:endParaRPr lang="en-US" sz="3200" dirty="0"/>
          </a:p>
        </p:txBody>
      </p:sp>
      <p:sp>
        <p:nvSpPr>
          <p:cNvPr id="4" name="Shape 2"/>
          <p:cNvSpPr/>
          <p:nvPr/>
        </p:nvSpPr>
        <p:spPr>
          <a:xfrm>
            <a:off x="815975" y="2085876"/>
            <a:ext cx="3380284" cy="1822450"/>
          </a:xfrm>
          <a:prstGeom prst="roundRect">
            <a:avLst>
              <a:gd name="adj" fmla="val 5401"/>
            </a:avLst>
          </a:prstGeom>
          <a:solidFill>
            <a:srgbClr val="FDFCF9"/>
          </a:solidFill>
          <a:ln w="6350">
            <a:solidFill>
              <a:srgbClr val="E2DFD6"/>
            </a:solidFill>
            <a:prstDash val="solid"/>
          </a:ln>
        </p:spPr>
      </p:sp>
      <p:sp>
        <p:nvSpPr>
          <p:cNvPr id="5" name="Text 3"/>
          <p:cNvSpPr/>
          <p:nvPr/>
        </p:nvSpPr>
        <p:spPr>
          <a:xfrm>
            <a:off x="1073150" y="2343051"/>
            <a:ext cx="2951912"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B4521A"/>
                </a:solidFill>
                <a:latin typeface="IBM Plex Sans" pitchFamily="34" charset="0"/>
                <a:ea typeface="IBM Plex Sans" pitchFamily="34" charset="-122"/>
                <a:cs typeface="IBM Plex Sans" pitchFamily="34" charset="-120"/>
              </a:rPr>
              <a:t>1</a:t>
            </a:r>
            <a:endParaRPr lang="en-US" sz="3200" dirty="0"/>
          </a:p>
        </p:txBody>
      </p:sp>
      <p:sp>
        <p:nvSpPr>
          <p:cNvPr id="6" name="Text 4"/>
          <p:cNvSpPr/>
          <p:nvPr/>
        </p:nvSpPr>
        <p:spPr>
          <a:xfrm>
            <a:off x="1073150" y="2851051"/>
            <a:ext cx="295191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colab.research.google.com › File › Upload notebook.</a:t>
            </a:r>
            <a:endParaRPr lang="en-US" sz="1500" dirty="0"/>
          </a:p>
        </p:txBody>
      </p:sp>
      <p:sp>
        <p:nvSpPr>
          <p:cNvPr id="7" name="Shape 5"/>
          <p:cNvSpPr/>
          <p:nvPr/>
        </p:nvSpPr>
        <p:spPr>
          <a:xfrm>
            <a:off x="4405809" y="2085876"/>
            <a:ext cx="3380383" cy="1822450"/>
          </a:xfrm>
          <a:prstGeom prst="roundRect">
            <a:avLst>
              <a:gd name="adj" fmla="val 5401"/>
            </a:avLst>
          </a:prstGeom>
          <a:solidFill>
            <a:srgbClr val="FDFCF9"/>
          </a:solidFill>
          <a:ln w="6350">
            <a:solidFill>
              <a:srgbClr val="E2DFD6"/>
            </a:solidFill>
            <a:prstDash val="solid"/>
          </a:ln>
        </p:spPr>
      </p:sp>
      <p:sp>
        <p:nvSpPr>
          <p:cNvPr id="8" name="Text 6"/>
          <p:cNvSpPr/>
          <p:nvPr/>
        </p:nvSpPr>
        <p:spPr>
          <a:xfrm>
            <a:off x="4662984" y="2343051"/>
            <a:ext cx="2952014"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B4521A"/>
                </a:solidFill>
                <a:latin typeface="IBM Plex Sans" pitchFamily="34" charset="0"/>
                <a:ea typeface="IBM Plex Sans" pitchFamily="34" charset="-122"/>
                <a:cs typeface="IBM Plex Sans" pitchFamily="34" charset="-120"/>
              </a:rPr>
              <a:t>2</a:t>
            </a:r>
            <a:endParaRPr lang="en-US" sz="3200" dirty="0"/>
          </a:p>
        </p:txBody>
      </p:sp>
      <p:sp>
        <p:nvSpPr>
          <p:cNvPr id="9" name="Text 7"/>
          <p:cNvSpPr/>
          <p:nvPr/>
        </p:nvSpPr>
        <p:spPr>
          <a:xfrm>
            <a:off x="4662984" y="2851051"/>
            <a:ext cx="295201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LLM demo: Runtime › Change runtime type › T4 GPU. Vector demo: CPU is fine.</a:t>
            </a:r>
            <a:endParaRPr lang="en-US" sz="1500" dirty="0"/>
          </a:p>
        </p:txBody>
      </p:sp>
      <p:sp>
        <p:nvSpPr>
          <p:cNvPr id="10" name="Shape 8"/>
          <p:cNvSpPr/>
          <p:nvPr/>
        </p:nvSpPr>
        <p:spPr>
          <a:xfrm>
            <a:off x="7995741" y="2085876"/>
            <a:ext cx="3380284" cy="1822450"/>
          </a:xfrm>
          <a:prstGeom prst="roundRect">
            <a:avLst>
              <a:gd name="adj" fmla="val 5401"/>
            </a:avLst>
          </a:prstGeom>
          <a:solidFill>
            <a:srgbClr val="FDFCF9"/>
          </a:solidFill>
          <a:ln w="6350">
            <a:solidFill>
              <a:srgbClr val="E2DFD6"/>
            </a:solidFill>
            <a:prstDash val="solid"/>
          </a:ln>
        </p:spPr>
      </p:sp>
      <p:sp>
        <p:nvSpPr>
          <p:cNvPr id="11" name="Text 9"/>
          <p:cNvSpPr/>
          <p:nvPr/>
        </p:nvSpPr>
        <p:spPr>
          <a:xfrm>
            <a:off x="8252916" y="2343051"/>
            <a:ext cx="2951912"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B4521A"/>
                </a:solidFill>
                <a:latin typeface="IBM Plex Sans" pitchFamily="34" charset="0"/>
                <a:ea typeface="IBM Plex Sans" pitchFamily="34" charset="-122"/>
                <a:cs typeface="IBM Plex Sans" pitchFamily="34" charset="-120"/>
              </a:rPr>
              <a:t>3</a:t>
            </a:r>
            <a:endParaRPr lang="en-US" sz="3200" dirty="0"/>
          </a:p>
        </p:txBody>
      </p:sp>
      <p:sp>
        <p:nvSpPr>
          <p:cNvPr id="12" name="Text 10"/>
          <p:cNvSpPr/>
          <p:nvPr/>
        </p:nvSpPr>
        <p:spPr>
          <a:xfrm>
            <a:off x="8252916" y="2851051"/>
            <a:ext cx="295191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Runtime › Run all. If transformers gets upgraded, restart the session once.</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25500" y="4229001"/>
          <a:ext cx="10553700" cy="1437084"/>
        </p:xfrm>
        <a:graphic>
          <a:graphicData uri="http://schemas.openxmlformats.org/drawingml/2006/table">
            <a:tbl>
              <a:tblPr/>
              <a:tblGrid>
                <a:gridCol w="3799332"/>
                <a:gridCol w="6754368"/>
              </a:tblGrid>
              <a:tr h="359271">
                <a:tc>
                  <a:txBody>
                    <a:bodyPr/>
                    <a:lstStyle/>
                    <a:p>
                      <a:pPr indent="0" marL="0">
                        <a:lnSpc>
                          <a:spcPts val="1820"/>
                        </a:lnSpc>
                        <a:buNone/>
                      </a:pPr>
                      <a:r>
                        <a:rPr lang="en-US" sz="1300" b="1" dirty="0">
                          <a:solidFill>
                            <a:srgbClr val="1B2433"/>
                          </a:solidFill>
                          <a:latin typeface="IBM Plex Sans" pitchFamily="34" charset="0"/>
                          <a:ea typeface="IBM Plex Sans" pitchFamily="34" charset="-122"/>
                          <a:cs typeface="IBM Plex Sans" pitchFamily="34" charset="-120"/>
                        </a:rPr>
                        <a:t>File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20"/>
                        </a:lnSpc>
                        <a:buNone/>
                      </a:pPr>
                      <a:r>
                        <a:rPr lang="en-US" sz="1300" b="1" dirty="0">
                          <a:solidFill>
                            <a:srgbClr val="1B2433"/>
                          </a:solidFill>
                          <a:latin typeface="IBM Plex Sans" pitchFamily="34" charset="0"/>
                          <a:ea typeface="IBM Plex Sans" pitchFamily="34" charset="-122"/>
                          <a:cs typeface="IBM Plex Sans" pitchFamily="34" charset="-120"/>
                        </a:rPr>
                        <a:t>What it is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59271">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llm_kv_cache_demo.ipynb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KV-cache demo; set MODEL_ID to try another model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vector_search_demo.ipynb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Search benchmark; set DATASET to dbpedia-3072 or 20newsgroups-lsa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turboquant_core.py + .py versions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pitchFamily="34" charset="0"/>
                          <a:ea typeface="IBM Plex Sans" pitchFamily="34" charset="-122"/>
                          <a:cs typeface="IBM Plex Sans" pitchFamily="34" charset="-120"/>
                        </a:rPr>
                        <a:t>The implementation and script versions of both demos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The vector demo streams 100k DBpedia vectors from the Hugging Face Hub, and PQ training takes a few minutes at d = 1536.</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2A35E"/>
                </a:solidFill>
                <a:latin typeface="JetBrains Mono" pitchFamily="49" charset="0"/>
                <a:ea typeface="JetBrains Mono" pitchFamily="49" charset="-122"/>
                <a:cs typeface="JetBrains Mono" pitchFamily="49" charset="-120"/>
              </a:rPr>
              <a:t>REFERENCES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5F0"/>
                </a:solidFill>
                <a:latin typeface="IBM Plex Sans" pitchFamily="34" charset="0"/>
                <a:ea typeface="IBM Plex Sans" pitchFamily="34" charset="-122"/>
                <a:cs typeface="IBM Plex Sans" pitchFamily="34" charset="-120"/>
              </a:rPr>
              <a:t>Read further</a:t>
            </a:r>
            <a:endParaRPr lang="en-US" sz="3200" dirty="0"/>
          </a:p>
        </p:txBody>
      </p:sp>
      <p:sp>
        <p:nvSpPr>
          <p:cNvPr id="4" name="Text 2"/>
          <p:cNvSpPr/>
          <p:nvPr/>
        </p:nvSpPr>
        <p:spPr>
          <a:xfrm>
            <a:off x="891032" y="1981101"/>
            <a:ext cx="10797540" cy="2016621"/>
          </a:xfrm>
          <a:prstGeom prst="rect">
            <a:avLst/>
          </a:prstGeom>
          <a:noFill/>
          <a:ln/>
        </p:spPr>
        <p:txBody>
          <a:bodyPr wrap="square" lIns="0" tIns="0" rIns="0" bIns="0" rtlCol="0" anchor="t">
            <a:normAutofit/>
          </a:bodyPr>
          <a:lstStyle/>
          <a:p>
            <a:pPr algn="l" marL="175768" indent="-175768">
              <a:lnSpc>
                <a:spcPts val="2240"/>
              </a:lnSpc>
              <a:buSzPct val="100000"/>
              <a:buChar char="•"/>
            </a:pPr>
            <a:r>
              <a:rPr lang="en-US" sz="1400" dirty="0">
                <a:solidFill>
                  <a:srgbClr val="D9DEE6"/>
                </a:solidFill>
                <a:latin typeface="IBM Plex Sans" pitchFamily="34" charset="0"/>
                <a:ea typeface="IBM Plex Sans" pitchFamily="34" charset="-122"/>
                <a:cs typeface="IBM Plex Sans" pitchFamily="34" charset="-120"/>
              </a:rPr>
              <a:t>Zandieh, Daliri, Hadian, Mirrokni. TurboQuant: Online Vector Quantization with Near-optimal Distortion Rate. arXiv:2504.19874</a:t>
            </a:r>
            <a:endParaRPr lang="en-US" sz="1400" dirty="0"/>
          </a:p>
          <a:p>
            <a:pPr algn="l" marL="175768" indent="-175768">
              <a:lnSpc>
                <a:spcPts val="2240"/>
              </a:lnSpc>
              <a:buSzPct val="100000"/>
              <a:buChar char="•"/>
            </a:pPr>
            <a:r>
              <a:rPr lang="en-US" sz="1400" dirty="0">
                <a:solidFill>
                  <a:srgbClr val="D9DEE6"/>
                </a:solidFill>
                <a:latin typeface="IBM Plex Sans" pitchFamily="34" charset="0"/>
                <a:ea typeface="IBM Plex Sans" pitchFamily="34" charset="-122"/>
                <a:cs typeface="IBM Plex Sans" pitchFamily="34" charset="-120"/>
              </a:rPr>
              <a:t>Zandieh, Daliri, Han. QJL: 1-Bit Quantized JL Transform for KV Cache Quantization with Zero Overhead. arXiv:2406.03482</a:t>
            </a:r>
            <a:endParaRPr lang="en-US" sz="1400" dirty="0"/>
          </a:p>
          <a:p>
            <a:pPr algn="l" marL="175768" indent="-175768">
              <a:lnSpc>
                <a:spcPts val="2240"/>
              </a:lnSpc>
              <a:buSzPct val="100000"/>
              <a:buChar char="•"/>
            </a:pPr>
            <a:r>
              <a:rPr lang="en-US" sz="1400" dirty="0">
                <a:solidFill>
                  <a:srgbClr val="D9DEE6"/>
                </a:solidFill>
                <a:latin typeface="IBM Plex Sans" pitchFamily="34" charset="0"/>
                <a:ea typeface="IBM Plex Sans" pitchFamily="34" charset="-122"/>
                <a:cs typeface="IBM Plex Sans" pitchFamily="34" charset="-120"/>
              </a:rPr>
              <a:t>Han, Kacham, Karbasi, Mirrokni, Zandieh. PolarQuant: Quantizing KV Caches with Polar Transformation. arXiv:2502.02617</a:t>
            </a:r>
            <a:endParaRPr lang="en-US" sz="1400" dirty="0"/>
          </a:p>
          <a:p>
            <a:pPr algn="l" marL="175768" indent="-175768">
              <a:lnSpc>
                <a:spcPts val="2240"/>
              </a:lnSpc>
              <a:buSzPct val="100000"/>
              <a:buChar char="•"/>
            </a:pPr>
            <a:r>
              <a:rPr lang="en-US" sz="1400" u="sng" dirty="0">
                <a:solidFill>
                  <a:srgbClr val="D9DEE6"/>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Google Research blog: TurboQuant, redefining AI efficiency with extreme compression</a:t>
            </a:r>
            <a:endParaRPr lang="en-US" sz="1400" dirty="0"/>
          </a:p>
          <a:p>
            <a:pPr algn="l" marL="175768" indent="-175768">
              <a:lnSpc>
                <a:spcPts val="2240"/>
              </a:lnSpc>
              <a:buSzPct val="100000"/>
              <a:buChar char="•"/>
            </a:pPr>
            <a:r>
              <a:rPr lang="en-US" sz="1400" u="sng" dirty="0">
                <a:solidFill>
                  <a:srgbClr val="D9DEE6"/>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vLLM blog: TurboQuant KV cache (May 2026)</a:t>
            </a:r>
            <a:endParaRPr lang="en-US" sz="1400" dirty="0"/>
          </a:p>
          <a:p>
            <a:pPr algn="l" marL="175768" indent="-175768">
              <a:lnSpc>
                <a:spcPts val="2240"/>
              </a:lnSpc>
              <a:buSzPct val="100000"/>
              <a:buChar char="•"/>
            </a:pPr>
            <a:r>
              <a:rPr lang="en-US" sz="1400" u="sng" dirty="0">
                <a:solidFill>
                  <a:srgbClr val="D9DEE6"/>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github.com/ryancodrai/turbovec</a:t>
            </a:r>
            <a:r>
              <a:rPr lang="en-US" sz="1400" dirty="0">
                <a:solidFill>
                  <a:srgbClr val="D9DEE6"/>
                </a:solidFill>
                <a:latin typeface="IBM Plex Sans" pitchFamily="34" charset="0"/>
                <a:ea typeface="IBM Plex Sans" pitchFamily="34" charset="-122"/>
                <a:cs typeface="IBM Plex Sans" pitchFamily="34" charset="-120"/>
              </a:rPr>
              <a:t> · </a:t>
            </a:r>
            <a:r>
              <a:rPr lang="en-US" sz="1400" u="sng" dirty="0">
                <a:solidFill>
                  <a:srgbClr val="D9DEE6"/>
                </a:solidFill>
                <a:latin typeface="IBM Plex Sans" pitchFamily="34" charset="0"/>
                <a:ea typeface="IBM Plex Sans" pitchFamily="34" charset="-122"/>
                <a:cs typeface="IBM Plex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github.com/0xsero/turboquant</a:t>
            </a:r>
            <a:endParaRPr lang="en-US" sz="1400" dirty="0"/>
          </a:p>
          <a:p>
            <a:pPr algn="l" marL="175768" indent="-175768">
              <a:lnSpc>
                <a:spcPts val="2240"/>
              </a:lnSpc>
              <a:buSzPct val="100000"/>
              <a:buChar char="•"/>
            </a:pPr>
            <a:r>
              <a:rPr lang="en-US" sz="1400" u="sng" dirty="0">
                <a:solidFill>
                  <a:srgbClr val="D9DEE6"/>
                </a:solidFill>
                <a:latin typeface="IBM Plex Sans" pitchFamily="34" charset="0"/>
                <a:ea typeface="IBM Plex Sans" pitchFamily="34" charset="-122"/>
                <a:cs typeface="IBM Plex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TurboQuant vs traditional quantization (Medium)</a:t>
            </a:r>
            <a:endParaRPr lang="en-US" sz="1400"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812800" y="812800"/>
            <a:ext cx="10883392" cy="238720"/>
          </a:xfrm>
          <a:prstGeom prst="rect">
            <a:avLst/>
          </a:prstGeom>
          <a:noFill/>
          <a:ln/>
        </p:spPr>
        <p:txBody>
          <a:bodyPr wrap="square" lIns="0" tIns="0" rIns="0" bIns="0" rtlCol="0" anchor="t"/>
          <a:lstStyle/>
          <a:p>
            <a:pPr algn="l" indent="0" marL="0">
              <a:lnSpc>
                <a:spcPts val="1680"/>
              </a:lnSpc>
              <a:buNone/>
            </a:pPr>
            <a:r>
              <a:rPr lang="en-US" sz="1200" spc="100" kern="0" dirty="0">
                <a:solidFill>
                  <a:srgbClr val="B4521A"/>
                </a:solidFill>
                <a:latin typeface="JetBrains Mono" pitchFamily="49" charset="0"/>
                <a:ea typeface="JetBrains Mono" pitchFamily="49" charset="-122"/>
                <a:cs typeface="JetBrains Mono" pitchFamily="49" charset="-120"/>
              </a:rPr>
              <a:t>CASE STUDIES · REAL DATA</a:t>
            </a:r>
            <a:endParaRPr lang="en-US" sz="1200" dirty="0"/>
          </a:p>
        </p:txBody>
      </p:sp>
      <p:sp>
        <p:nvSpPr>
          <p:cNvPr id="3" name="Text 1"/>
          <p:cNvSpPr/>
          <p:nvPr>
            <p:ph type="title"/>
          </p:nvPr>
        </p:nvSpPr>
        <p:spPr>
          <a:xfrm>
            <a:off x="812800" y="1330920"/>
            <a:ext cx="10883392" cy="472380"/>
          </a:xfrm>
          <a:prstGeom prst="rect">
            <a:avLst/>
          </a:prstGeom>
          <a:noFill/>
          <a:ln/>
        </p:spPr>
        <p:txBody>
          <a:bodyPr wrap="square" lIns="0" tIns="0" rIns="0" bIns="0" rtlCol="0" anchor="t"/>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Two real features where compression did not help</a:t>
            </a:r>
            <a:endParaRPr lang="en-US" sz="3200" dirty="0"/>
          </a:p>
        </p:txBody>
      </p:sp>
      <p:sp>
        <p:nvSpPr>
          <p:cNvPr id="4" name="Shape 2"/>
          <p:cNvSpPr/>
          <p:nvPr/>
        </p:nvSpPr>
        <p:spPr>
          <a:xfrm>
            <a:off x="815975" y="2085876"/>
            <a:ext cx="5175250" cy="2981325"/>
          </a:xfrm>
          <a:prstGeom prst="roundRect">
            <a:avLst>
              <a:gd name="adj" fmla="val 3301"/>
            </a:avLst>
          </a:prstGeom>
          <a:solidFill>
            <a:srgbClr val="FDFCF9"/>
          </a:solidFill>
          <a:ln w="6350">
            <a:solidFill>
              <a:srgbClr val="E2DFD6"/>
            </a:solidFill>
            <a:prstDash val="solid"/>
          </a:ln>
        </p:spPr>
      </p:sp>
      <p:sp>
        <p:nvSpPr>
          <p:cNvPr id="5" name="Text 3"/>
          <p:cNvSpPr/>
          <p:nvPr/>
        </p:nvSpPr>
        <p:spPr>
          <a:xfrm>
            <a:off x="1123950" y="2393851"/>
            <a:ext cx="4696079" cy="330200"/>
          </a:xfrm>
          <a:prstGeom prst="rect">
            <a:avLst/>
          </a:prstGeom>
          <a:noFill/>
          <a:ln/>
        </p:spPr>
        <p:txBody>
          <a:bodyPr wrap="square" lIns="0" tIns="0" rIns="0" bIns="0" rtlCol="0" anchor="t"/>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A · Similar provisions</a:t>
            </a:r>
            <a:endParaRPr lang="en-US" sz="2000" dirty="0"/>
          </a:p>
        </p:txBody>
      </p:sp>
      <p:sp>
        <p:nvSpPr>
          <p:cNvPr id="6" name="Text 4"/>
          <p:cNvSpPr/>
          <p:nvPr/>
        </p:nvSpPr>
        <p:spPr>
          <a:xfrm>
            <a:off x="1195070" y="2825651"/>
            <a:ext cx="4617339" cy="1958975"/>
          </a:xfrm>
          <a:prstGeom prst="rect">
            <a:avLst/>
          </a:prstGeom>
          <a:noFill/>
          <a:ln/>
        </p:spPr>
        <p:txBody>
          <a:bodyPr wrap="square" lIns="0" tIns="0" rIns="0" bIns="0" rtlCol="0" anchor="t"/>
          <a:lstStyle/>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Score of record: edit distance (fuzz.ratio, 0–100), not cosine.</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Pairs stored in PostgreSQL if ≥ 30; the UI defaults to 70.</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Embeddings (3-small, 1,536-d) sit in Elasticsearch, but no feature reads them.</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Pain: storage growth and slow writes.</a:t>
            </a:r>
            <a:endParaRPr lang="en-US" sz="1500" dirty="0"/>
          </a:p>
        </p:txBody>
      </p:sp>
      <p:sp>
        <p:nvSpPr>
          <p:cNvPr id="7" name="Shape 5"/>
          <p:cNvSpPr/>
          <p:nvPr/>
        </p:nvSpPr>
        <p:spPr>
          <a:xfrm>
            <a:off x="6200775" y="2085876"/>
            <a:ext cx="5175250" cy="2981325"/>
          </a:xfrm>
          <a:prstGeom prst="roundRect">
            <a:avLst>
              <a:gd name="adj" fmla="val 3301"/>
            </a:avLst>
          </a:prstGeom>
          <a:solidFill>
            <a:srgbClr val="FDFCF9"/>
          </a:solidFill>
          <a:ln w="6350">
            <a:solidFill>
              <a:srgbClr val="E2DFD6"/>
            </a:solidFill>
            <a:prstDash val="solid"/>
          </a:ln>
        </p:spPr>
      </p:sp>
      <p:sp>
        <p:nvSpPr>
          <p:cNvPr id="8" name="Text 6"/>
          <p:cNvSpPr/>
          <p:nvPr/>
        </p:nvSpPr>
        <p:spPr>
          <a:xfrm>
            <a:off x="6508750" y="2393851"/>
            <a:ext cx="4696079" cy="330200"/>
          </a:xfrm>
          <a:prstGeom prst="rect">
            <a:avLst/>
          </a:prstGeom>
          <a:noFill/>
          <a:ln/>
        </p:spPr>
        <p:txBody>
          <a:bodyPr wrap="square" lIns="0" tIns="0" rIns="0" bIns="0" rtlCol="0" anchor="t"/>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B · Memo response suggestions</a:t>
            </a:r>
            <a:endParaRPr lang="en-US" sz="2000" dirty="0"/>
          </a:p>
        </p:txBody>
      </p:sp>
      <p:sp>
        <p:nvSpPr>
          <p:cNvPr id="9" name="Text 7"/>
          <p:cNvSpPr/>
          <p:nvPr/>
        </p:nvSpPr>
        <p:spPr>
          <a:xfrm>
            <a:off x="6579870" y="2825651"/>
            <a:ext cx="4617339" cy="1958975"/>
          </a:xfrm>
          <a:prstGeom prst="rect">
            <a:avLst/>
          </a:prstGeom>
          <a:noFill/>
          <a:ln/>
        </p:spPr>
        <p:txBody>
          <a:bodyPr wrap="square" lIns="0" tIns="0" rIns="0" bIns="0" rtlCol="0" anchor="t"/>
          <a:lstStyle/>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Score of record: cosine on 3-large embeddings (3,072-d).</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Exact Qdrant search per firm: top 50, floor 0.5, retry at 0.42.</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Then a re-ranker and an LLM relevance check.</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Pain: latency per request.</a:t>
            </a:r>
            <a:endParaRPr lang="en-US" sz="1500" dirty="0"/>
          </a:p>
        </p:txBody>
      </p:sp>
      <p:sp>
        <p:nvSpPr>
          <p:cNvPr id="10" name="Text 8"/>
          <p:cNvSpPr/>
          <p:nvPr/>
        </p:nvSpPr>
        <p:spPr>
          <a:xfrm>
            <a:off x="812800" y="6238280"/>
            <a:ext cx="10883392" cy="238720"/>
          </a:xfrm>
          <a:prstGeom prst="rect">
            <a:avLst/>
          </a:prstGeom>
          <a:noFill/>
          <a:ln/>
        </p:spPr>
        <p:txBody>
          <a:bodyPr wrap="square" lIns="0" tIns="0" rIns="0" bIns="0" rtlCol="0" anchor="t"/>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Local rebuilds on real platform data (es_bench/, memo_bench/), not measurements of the production system.</a:t>
            </a:r>
            <a:endParaRPr lang="en-US" sz="120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812800" y="812800"/>
            <a:ext cx="10883392" cy="238720"/>
          </a:xfrm>
          <a:prstGeom prst="rect">
            <a:avLst/>
          </a:prstGeom>
          <a:noFill/>
          <a:ln/>
        </p:spPr>
        <p:txBody>
          <a:bodyPr wrap="square" lIns="0" tIns="0" rIns="0" bIns="0" rtlCol="0" anchor="t"/>
          <a:lstStyle/>
          <a:p>
            <a:pPr algn="l" indent="0" marL="0">
              <a:lnSpc>
                <a:spcPts val="1680"/>
              </a:lnSpc>
              <a:buNone/>
            </a:pPr>
            <a:r>
              <a:rPr lang="en-US" sz="1200" spc="100" kern="0" dirty="0">
                <a:solidFill>
                  <a:srgbClr val="B4521A"/>
                </a:solidFill>
                <a:latin typeface="JetBrains Mono" pitchFamily="49" charset="0"/>
                <a:ea typeface="JetBrains Mono" pitchFamily="49" charset="-122"/>
                <a:cs typeface="JetBrains Mono" pitchFamily="49" charset="-120"/>
              </a:rPr>
              <a:t>CASE A · SIMILAR PROVISIONS</a:t>
            </a:r>
            <a:endParaRPr lang="en-US" sz="1200" dirty="0"/>
          </a:p>
        </p:txBody>
      </p:sp>
      <p:sp>
        <p:nvSpPr>
          <p:cNvPr id="3" name="Text 1"/>
          <p:cNvSpPr/>
          <p:nvPr>
            <p:ph type="title"/>
          </p:nvPr>
        </p:nvSpPr>
        <p:spPr>
          <a:xfrm>
            <a:off x="812800" y="1330920"/>
            <a:ext cx="10883392" cy="919361"/>
          </a:xfrm>
          <a:prstGeom prst="rect">
            <a:avLst/>
          </a:prstGeom>
          <a:noFill/>
          <a:ln/>
        </p:spPr>
        <p:txBody>
          <a:bodyPr wrap="square" lIns="0" tIns="0" rIns="0" bIns="0" rtlCol="0" anchor="t"/>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Compression keeps the cosine neighbours, but the pairs that matter never move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542381"/>
          <a:ext cx="7404100" cy="2520000"/>
        </p:xfrm>
        <a:graphic>
          <a:graphicData uri="http://schemas.openxmlformats.org/drawingml/2006/table">
            <a:tbl>
              <a:tblPr/>
              <a:tblGrid>
                <a:gridCol w="2350000"/>
                <a:gridCol w="1350000"/>
                <a:gridCol w="2250000"/>
                <a:gridCol w="1454100"/>
              </a:tblGrid>
              <a:tr h="360000">
                <a:tc>
                  <a:txBody>
                    <a:bodyPr/>
                    <a:lstStyle/>
                    <a:p>
                      <a:pPr indent="0" marL="0">
                        <a:lnSpc>
                          <a:spcPts val="2100"/>
                        </a:lnSpc>
                        <a:buNone/>
                      </a:pPr>
                      <a:r>
                        <a:rPr lang="en-US" sz="1500" b="1" dirty="0">
                          <a:solidFill>
                            <a:srgbClr val="1B2433"/>
                          </a:solidFill>
                          <a:latin typeface="IBM Plex Sans" pitchFamily="34" charset="0"/>
                          <a:ea typeface="IBM Plex Sans" pitchFamily="34" charset="-122"/>
                          <a:cs typeface="IBM Plex Sans" pitchFamily="34" charset="-120"/>
                        </a:rPr>
                        <a:t>Method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100"/>
                        </a:lnSpc>
                        <a:buNone/>
                      </a:pPr>
                      <a:r>
                        <a:rPr lang="en-US" sz="1500" b="1" dirty="0">
                          <a:solidFill>
                            <a:srgbClr val="1B2433"/>
                          </a:solidFill>
                          <a:latin typeface="IBM Plex Sans" pitchFamily="34" charset="0"/>
                          <a:ea typeface="IBM Plex Sans" pitchFamily="34" charset="-122"/>
                          <a:cs typeface="IBM Plex Sans" pitchFamily="34" charset="-120"/>
                        </a:rPr>
                        <a:t>Memory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100"/>
                        </a:lnSpc>
                        <a:buNone/>
                      </a:pPr>
                      <a:r>
                        <a:rPr lang="en-US" sz="1500" b="1" dirty="0">
                          <a:solidFill>
                            <a:srgbClr val="1B2433"/>
                          </a:solidFill>
                          <a:latin typeface="IBM Plex Sans" pitchFamily="34" charset="0"/>
                          <a:ea typeface="IBM Plex Sans" pitchFamily="34" charset="-122"/>
                          <a:cs typeface="IBM Plex Sans" pitchFamily="34" charset="-120"/>
                        </a:rPr>
                        <a:t>Top-10, raw → 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100"/>
                        </a:lnSpc>
                        <a:buNone/>
                      </a:pPr>
                      <a:r>
                        <a:rPr lang="en-US" sz="1500" b="1" dirty="0">
                          <a:solidFill>
                            <a:srgbClr val="1B2433"/>
                          </a:solidFill>
                          <a:latin typeface="IBM Plex Sans" pitchFamily="34" charset="0"/>
                          <a:ea typeface="IBM Plex Sans" pitchFamily="34" charset="-122"/>
                          <a:cs typeface="IBM Plex Sans" pitchFamily="34" charset="-120"/>
                        </a:rPr>
                        <a:t>Recall @200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6000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float32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1.000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99.8 %</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6000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scalar int8</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4× smaller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0.949 → 0.999</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99.8 %</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6000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binary 1-bit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32× smaller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0.824 → 0.962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99.7 %</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6000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TurboQuant 4-bit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8× smaller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0.966 → 1.000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99.8 %</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r h="36000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TurboQuant 2-bit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16× smaller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0.902 → 0.992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99.8 %</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r h="360000">
                <a:tc>
                  <a:txBody>
                    <a:bodyPr/>
                    <a:lstStyle/>
                    <a:p>
                      <a:pP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Trigram (pg_trgm)</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100"/>
                        </a:lnSpc>
                        <a:buNone/>
                      </a:pPr>
                      <a:r>
                        <a:rPr lang="en-US" sz="1500" dirty="0">
                          <a:solidFill>
                            <a:srgbClr val="1B2433"/>
                          </a:solidFill>
                          <a:latin typeface="IBM Plex Sans" pitchFamily="34" charset="0"/>
                          <a:ea typeface="IBM Plex Sans" pitchFamily="34" charset="-122"/>
                          <a:cs typeface="IBM Plex Sans" pitchFamily="34" charset="-120"/>
                        </a:rPr>
                        <a:t>100 %</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5" name="Shape 2"/>
          <p:cNvSpPr/>
          <p:nvPr/>
        </p:nvSpPr>
        <p:spPr>
          <a:xfrm>
            <a:off x="8585200" y="2529681"/>
            <a:ext cx="2794000" cy="2520000"/>
          </a:xfrm>
          <a:prstGeom prst="roundRect">
            <a:avLst>
              <a:gd name="adj" fmla="val 4790"/>
            </a:avLst>
          </a:prstGeom>
          <a:solidFill>
            <a:srgbClr val="0F1B2D"/>
          </a:solidFill>
          <a:ln/>
        </p:spPr>
      </p:sp>
      <p:sp>
        <p:nvSpPr>
          <p:cNvPr id="6" name="Text 3"/>
          <p:cNvSpPr/>
          <p:nvPr/>
        </p:nvSpPr>
        <p:spPr>
          <a:xfrm>
            <a:off x="8890000" y="2834481"/>
            <a:ext cx="2249932" cy="635000"/>
          </a:xfrm>
          <a:prstGeom prst="rect">
            <a:avLst/>
          </a:prstGeom>
          <a:noFill/>
          <a:ln/>
        </p:spPr>
        <p:txBody>
          <a:bodyPr wrap="square" lIns="0" tIns="0" rIns="0" bIns="0" rtlCol="0" anchor="t"/>
          <a:lstStyle/>
          <a:p>
            <a:pPr algn="l" indent="0" marL="0">
              <a:lnSpc>
                <a:spcPts val="4800"/>
              </a:lnSpc>
              <a:buNone/>
            </a:pPr>
            <a:r>
              <a:rPr lang="en-US" sz="4800" b="1" dirty="0">
                <a:solidFill>
                  <a:srgbClr val="F2A35E"/>
                </a:solidFill>
                <a:latin typeface="IBM Plex Sans" pitchFamily="34" charset="0"/>
                <a:ea typeface="IBM Plex Sans" pitchFamily="34" charset="-122"/>
                <a:cs typeface="IBM Plex Sans" pitchFamily="34" charset="-120"/>
              </a:rPr>
              <a:t>70 %</a:t>
            </a:r>
            <a:endParaRPr lang="en-US" sz="4800" dirty="0"/>
          </a:p>
        </p:txBody>
      </p:sp>
      <p:sp>
        <p:nvSpPr>
          <p:cNvPr id="7" name="Text 4"/>
          <p:cNvSpPr/>
          <p:nvPr/>
        </p:nvSpPr>
        <p:spPr>
          <a:xfrm>
            <a:off x="8890000" y="3545681"/>
            <a:ext cx="2249932" cy="1500000"/>
          </a:xfrm>
          <a:prstGeom prst="rect">
            <a:avLst/>
          </a:prstGeom>
          <a:noFill/>
          <a:ln/>
        </p:spPr>
        <p:txBody>
          <a:bodyPr wrap="square" lIns="0" tIns="0" rIns="0" bIns="0" rtlCol="0" anchor="t"/>
          <a:lstStyle/>
          <a:p>
            <a:pPr algn="l" indent="0" marL="0">
              <a:lnSpc>
                <a:spcPts val="2100"/>
              </a:lnSpc>
              <a:buNone/>
            </a:pPr>
            <a:r>
              <a:rPr lang="en-US" sz="1500" dirty="0">
                <a:solidFill>
                  <a:srgbClr val="D9DEE6"/>
                </a:solidFill>
                <a:latin typeface="IBM Plex Sans" pitchFamily="34" charset="0"/>
                <a:ea typeface="IBM Plex Sans" pitchFamily="34" charset="-122"/>
                <a:cs typeface="IBM Plex Sans" pitchFamily="34" charset="-120"/>
              </a:rPr>
              <a:t>of all pairs are kept at the store floor of 30. No vector technique changes that count.</a:t>
            </a:r>
            <a:endParaRPr lang="en-US" sz="1500" dirty="0"/>
          </a:p>
        </p:txBody>
      </p:sp>
      <p:sp>
        <p:nvSpPr>
          <p:cNvPr id="8" name="Text 5"/>
          <p:cNvSpPr/>
          <p:nvPr/>
        </p:nvSpPr>
        <p:spPr>
          <a:xfrm>
            <a:off x="812800" y="5700000"/>
            <a:ext cx="10883392" cy="558800"/>
          </a:xfrm>
          <a:prstGeom prst="rect">
            <a:avLst/>
          </a:prstGeom>
          <a:noFill/>
          <a:ln/>
        </p:spPr>
        <p:txBody>
          <a:bodyPr wrap="square" lIns="0" tIns="0" rIns="0" bIns="0" rtlCol="0" anchor="t"/>
          <a:lstStyle/>
          <a:p>
            <a:pPr algn="l" indent="0" marL="0">
              <a:lnSpc>
                <a:spcPts val="2100"/>
              </a:lnSpc>
              <a:buNone/>
            </a:pPr>
            <a:r>
              <a:rPr lang="en-US" sz="1500" dirty="0">
                <a:solidFill>
                  <a:srgbClr val="3A4556"/>
                </a:solidFill>
                <a:latin typeface="IBM Plex Sans" pitchFamily="34" charset="0"/>
                <a:ea typeface="IBM Plex Sans" pitchFamily="34" charset="-122"/>
                <a:cs typeface="IBM Plex Sans" pitchFamily="34" charset="-120"/>
              </a:rPr>
              <a:t>The levers are the floor (a product decision) and a candidate filter; trigrams in PostgreSQL find as many pairs.</a:t>
            </a:r>
            <a:endParaRPr lang="en-US" sz="1500" dirty="0"/>
          </a:p>
        </p:txBody>
      </p:sp>
      <p:sp>
        <p:nvSpPr>
          <p:cNvPr id="9" name="Text 6"/>
          <p:cNvSpPr/>
          <p:nvPr/>
        </p:nvSpPr>
        <p:spPr>
          <a:xfrm>
            <a:off x="812800" y="6238280"/>
            <a:ext cx="10883392" cy="238720"/>
          </a:xfrm>
          <a:prstGeom prst="rect">
            <a:avLst/>
          </a:prstGeom>
          <a:noFill/>
          <a:ln/>
        </p:spPr>
        <p:txBody>
          <a:bodyPr wrap="square" lIns="0" tIns="0" rIns="0" bIns="0" rtlCol="0" anchor="t"/>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Local stand-in: 2,501 provisions, 500 queries, Elasticsearch 8.18. Recall @200 = share of fuzz ≥ 70 pairs among 200 candidates.</a:t>
            </a:r>
            <a:endParaRPr lang="en-US" sz="120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812800" y="812800"/>
            <a:ext cx="10883392" cy="238720"/>
          </a:xfrm>
          <a:prstGeom prst="rect">
            <a:avLst/>
          </a:prstGeom>
          <a:noFill/>
          <a:ln/>
        </p:spPr>
        <p:txBody>
          <a:bodyPr wrap="square" lIns="0" tIns="0" rIns="0" bIns="0" rtlCol="0" anchor="t"/>
          <a:lstStyle/>
          <a:p>
            <a:pPr algn="l" indent="0" marL="0">
              <a:lnSpc>
                <a:spcPts val="1680"/>
              </a:lnSpc>
              <a:buNone/>
            </a:pPr>
            <a:r>
              <a:rPr lang="en-US" sz="1200" spc="100" kern="0" dirty="0">
                <a:solidFill>
                  <a:srgbClr val="B4521A"/>
                </a:solidFill>
                <a:latin typeface="JetBrains Mono" pitchFamily="49" charset="0"/>
                <a:ea typeface="JetBrains Mono" pitchFamily="49" charset="-122"/>
                <a:cs typeface="JetBrains Mono" pitchFamily="49" charset="-120"/>
              </a:rPr>
              <a:t>CASE B · MEMO SUGGESTIONS</a:t>
            </a:r>
            <a:endParaRPr lang="en-US" sz="1200" dirty="0"/>
          </a:p>
        </p:txBody>
      </p:sp>
      <p:sp>
        <p:nvSpPr>
          <p:cNvPr id="3" name="Text 1"/>
          <p:cNvSpPr/>
          <p:nvPr>
            <p:ph type="title"/>
          </p:nvPr>
        </p:nvSpPr>
        <p:spPr>
          <a:xfrm>
            <a:off x="812800" y="1330920"/>
            <a:ext cx="10883392" cy="919361"/>
          </a:xfrm>
          <a:prstGeom prst="rect">
            <a:avLst/>
          </a:prstGeom>
          <a:noFill/>
          <a:ln/>
        </p:spPr>
        <p:txBody>
          <a:bodyPr wrap="square" lIns="0" tIns="0" rIns="0" bIns="0" rtlCol="0" anchor="t"/>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The vector search is about 14 ms of a request that takes seconds</a:t>
            </a:r>
            <a:endParaRPr lang="en-US" sz="3200" dirty="0"/>
          </a:p>
        </p:txBody>
      </p:sp>
      <p:sp>
        <p:nvSpPr>
          <p:cNvPr id="4" name="Text 2"/>
          <p:cNvSpPr/>
          <p:nvPr/>
        </p:nvSpPr>
        <p:spPr>
          <a:xfrm>
            <a:off x="812800" y="2529681"/>
            <a:ext cx="6310254" cy="269180"/>
          </a:xfrm>
          <a:prstGeom prst="rect">
            <a:avLst/>
          </a:prstGeom>
          <a:noFill/>
          <a:ln/>
        </p:spPr>
        <p:txBody>
          <a:bodyPr wrap="square" lIns="0" tIns="0" rIns="0" bIns="0" rtlCol="0" anchor="t"/>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Where the time goes, p50</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887762"/>
          <a:ext cx="6113760" cy="1929805"/>
        </p:xfrm>
        <a:graphic>
          <a:graphicData uri="http://schemas.openxmlformats.org/drawingml/2006/table">
            <a:tbl>
              <a:tblPr/>
              <a:tblGrid>
                <a:gridCol w="4513760"/>
                <a:gridCol w="1600000"/>
              </a:tblGrid>
              <a:tr h="385961">
                <a:tc>
                  <a:txBody>
                    <a:bodyPr/>
                    <a:lstStyle/>
                    <a:p>
                      <a:pPr indent="0" marL="0">
                        <a:lnSpc>
                          <a:spcPts val="1960"/>
                        </a:lnSpc>
                        <a:buNone/>
                      </a:pPr>
                      <a:r>
                        <a:rPr lang="en-US" sz="1400" b="1" dirty="0">
                          <a:solidFill>
                            <a:srgbClr val="1B2433"/>
                          </a:solidFill>
                          <a:latin typeface="IBM Plex Sans" pitchFamily="34" charset="0"/>
                          <a:ea typeface="IBM Plex Sans" pitchFamily="34" charset="-122"/>
                          <a:cs typeface="IBM Plex Sans" pitchFamily="34" charset="-120"/>
                        </a:rPr>
                        <a:t>Step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B2433"/>
                          </a:solidFill>
                          <a:latin typeface="IBM Plex Sans" pitchFamily="34" charset="0"/>
                          <a:ea typeface="IBM Plex Sans" pitchFamily="34" charset="-122"/>
                          <a:cs typeface="IBM Plex Sans" pitchFamily="34" charset="-120"/>
                        </a:rPr>
                        <a:t>Time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Embed the new comment (API call)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~240 ms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Exact vector search, 1,238 memos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~14 ms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LLM relevance check, top 12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~3,800 ms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Exact search, 200,000 memos in one firm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339 ms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6" name="Text 3"/>
          <p:cNvSpPr/>
          <p:nvPr/>
        </p:nvSpPr>
        <p:spPr>
          <a:xfrm>
            <a:off x="7294860" y="2529681"/>
            <a:ext cx="4206870" cy="300000"/>
          </a:xfrm>
          <a:prstGeom prst="rect">
            <a:avLst/>
          </a:prstGeom>
          <a:noFill/>
          <a:ln/>
        </p:spPr>
        <p:txBody>
          <a:bodyPr wrap="square" lIns="0" tIns="0" rIns="0" bIns="0" rtlCol="0" anchor="t"/>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Suggestions dropped at 0.5, of 22,193</a:t>
            </a:r>
            <a:endParaRPr lang="en-US" sz="16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7307560" y="2887542"/>
          <a:ext cx="4071640" cy="2315766"/>
        </p:xfrm>
        <a:graphic>
          <a:graphicData uri="http://schemas.openxmlformats.org/drawingml/2006/table">
            <a:tbl>
              <a:tblPr/>
              <a:tblGrid>
                <a:gridCol w="2524417"/>
                <a:gridCol w="1547223"/>
              </a:tblGrid>
              <a:tr h="385961">
                <a:tc>
                  <a:txBody>
                    <a:bodyPr/>
                    <a:lstStyle/>
                    <a:p>
                      <a:pPr indent="0" marL="0">
                        <a:lnSpc>
                          <a:spcPts val="1960"/>
                        </a:lnSpc>
                        <a:buNone/>
                      </a:pPr>
                      <a:r>
                        <a:rPr lang="en-US" sz="1400" b="1" dirty="0">
                          <a:solidFill>
                            <a:srgbClr val="1B2433"/>
                          </a:solidFill>
                          <a:latin typeface="IBM Plex Sans" pitchFamily="34" charset="0"/>
                          <a:ea typeface="IBM Plex Sans" pitchFamily="34" charset="-122"/>
                          <a:cs typeface="IBM Plex Sans" pitchFamily="34" charset="-120"/>
                        </a:rPr>
                        <a:t>Method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B2433"/>
                          </a:solidFill>
                          <a:latin typeface="IBM Plex Sans" pitchFamily="34" charset="0"/>
                          <a:ea typeface="IBM Plex Sans" pitchFamily="34" charset="-122"/>
                          <a:cs typeface="IBM Plex Sans" pitchFamily="34" charset="-120"/>
                        </a:rPr>
                        <a:t>Dropped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float32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scalar int8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1,438 (6.5 %)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TurboQuant 4-bit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244 (1.1 %)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TurboQuant 2-bit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3,574 (16 %)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Qdrant quantized, rescored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B2433"/>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8" name="Text 4"/>
          <p:cNvSpPr/>
          <p:nvPr/>
        </p:nvSpPr>
        <p:spPr>
          <a:xfrm>
            <a:off x="812800" y="6238280"/>
            <a:ext cx="10883392" cy="238720"/>
          </a:xfrm>
          <a:prstGeom prst="rect">
            <a:avLst/>
          </a:prstGeom>
          <a:noFill/>
          <a:ln/>
        </p:spPr>
        <p:txBody>
          <a:bodyPr wrap="square" lIns="0" tIns="0" rIns="0" bIns="0" rtlCol="0" anchor="t"/>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Local rebuild: 1,238 real comments, same Qdrant version. LLM row: a call of similar size, not the platform's own gate.</a:t>
            </a:r>
            <a:endParaRPr lang="en-US" sz="1200" dirty="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812800" y="812800"/>
            <a:ext cx="10883392" cy="238720"/>
          </a:xfrm>
          <a:prstGeom prst="rect">
            <a:avLst/>
          </a:prstGeom>
          <a:noFill/>
          <a:ln/>
        </p:spPr>
        <p:txBody>
          <a:bodyPr wrap="square" lIns="0" tIns="0" rIns="0" bIns="0" rtlCol="0" anchor="t"/>
          <a:lstStyle/>
          <a:p>
            <a:pPr algn="l" indent="0" marL="0">
              <a:lnSpc>
                <a:spcPts val="1680"/>
              </a:lnSpc>
              <a:buNone/>
            </a:pPr>
            <a:r>
              <a:rPr lang="en-US" sz="1200" spc="100" kern="0" dirty="0">
                <a:solidFill>
                  <a:srgbClr val="B4521A"/>
                </a:solidFill>
                <a:latin typeface="JetBrains Mono" pitchFamily="49" charset="0"/>
                <a:ea typeface="JetBrains Mono" pitchFamily="49" charset="-122"/>
                <a:cs typeface="JetBrains Mono" pitchFamily="49" charset="-120"/>
              </a:rPr>
              <a:t>CASE STUDIES · LESSONS</a:t>
            </a:r>
            <a:endParaRPr lang="en-US" sz="1200" dirty="0"/>
          </a:p>
        </p:txBody>
      </p:sp>
      <p:sp>
        <p:nvSpPr>
          <p:cNvPr id="3" name="Text 1"/>
          <p:cNvSpPr/>
          <p:nvPr>
            <p:ph type="title"/>
          </p:nvPr>
        </p:nvSpPr>
        <p:spPr>
          <a:xfrm>
            <a:off x="812800" y="1330920"/>
            <a:ext cx="10883392" cy="472380"/>
          </a:xfrm>
          <a:prstGeom prst="rect">
            <a:avLst/>
          </a:prstGeom>
          <a:noFill/>
          <a:ln/>
        </p:spPr>
        <p:txBody>
          <a:bodyPr wrap="square" lIns="0" tIns="0" rIns="0" bIns="0" rtlCol="0" anchor="t"/>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Before you compress, find what limits the feature</a:t>
            </a:r>
            <a:endParaRPr lang="en-US" sz="3200" dirty="0"/>
          </a:p>
        </p:txBody>
      </p:sp>
      <p:sp>
        <p:nvSpPr>
          <p:cNvPr id="4" name="Shape 2"/>
          <p:cNvSpPr/>
          <p:nvPr/>
        </p:nvSpPr>
        <p:spPr>
          <a:xfrm>
            <a:off x="815975" y="2085876"/>
            <a:ext cx="5175250" cy="2981325"/>
          </a:xfrm>
          <a:prstGeom prst="roundRect">
            <a:avLst>
              <a:gd name="adj" fmla="val 3301"/>
            </a:avLst>
          </a:prstGeom>
          <a:solidFill>
            <a:srgbClr val="FDFCF9"/>
          </a:solidFill>
          <a:ln w="6350">
            <a:solidFill>
              <a:srgbClr val="E2DFD6"/>
            </a:solidFill>
            <a:prstDash val="solid"/>
          </a:ln>
        </p:spPr>
      </p:sp>
      <p:sp>
        <p:nvSpPr>
          <p:cNvPr id="5" name="Text 3"/>
          <p:cNvSpPr/>
          <p:nvPr/>
        </p:nvSpPr>
        <p:spPr>
          <a:xfrm>
            <a:off x="1123950" y="2393851"/>
            <a:ext cx="4696079" cy="330200"/>
          </a:xfrm>
          <a:prstGeom prst="rect">
            <a:avLst/>
          </a:prstGeom>
          <a:noFill/>
          <a:ln/>
        </p:spPr>
        <p:txBody>
          <a:bodyPr wrap="square" lIns="0" tIns="0" rIns="0" bIns="0" rtlCol="0" anchor="t"/>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Verdicts</a:t>
            </a:r>
            <a:endParaRPr lang="en-US" sz="2000" dirty="0"/>
          </a:p>
        </p:txBody>
      </p:sp>
      <p:sp>
        <p:nvSpPr>
          <p:cNvPr id="6" name="Text 4"/>
          <p:cNvSpPr/>
          <p:nvPr/>
        </p:nvSpPr>
        <p:spPr>
          <a:xfrm>
            <a:off x="1195070" y="2825651"/>
            <a:ext cx="4617339" cy="1958975"/>
          </a:xfrm>
          <a:prstGeom prst="rect">
            <a:avLst/>
          </a:prstGeom>
          <a:noFill/>
          <a:ln/>
        </p:spPr>
        <p:txBody>
          <a:bodyPr wrap="square" lIns="0" tIns="0" rIns="0" bIns="0" rtlCol="0" anchor="t"/>
          <a:lstStyle/>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A: cannot help. The cost is how many pairs are kept, not bytes per vector.</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B: does not help. Search is under 1 % of the request; Qdrant int8 with rescoring drops no suggestion.</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In both, TurboQuant beat plain int8 at the same bits, as the paper promises.</a:t>
            </a:r>
            <a:endParaRPr lang="en-US" sz="1500" dirty="0"/>
          </a:p>
        </p:txBody>
      </p:sp>
      <p:sp>
        <p:nvSpPr>
          <p:cNvPr id="7" name="Shape 5"/>
          <p:cNvSpPr/>
          <p:nvPr/>
        </p:nvSpPr>
        <p:spPr>
          <a:xfrm>
            <a:off x="6200775" y="2085876"/>
            <a:ext cx="5175250" cy="2981325"/>
          </a:xfrm>
          <a:prstGeom prst="roundRect">
            <a:avLst>
              <a:gd name="adj" fmla="val 3301"/>
            </a:avLst>
          </a:prstGeom>
          <a:solidFill>
            <a:srgbClr val="FDFCF9"/>
          </a:solidFill>
          <a:ln w="6350">
            <a:solidFill>
              <a:srgbClr val="E2DFD6"/>
            </a:solidFill>
            <a:prstDash val="solid"/>
          </a:ln>
        </p:spPr>
      </p:sp>
      <p:sp>
        <p:nvSpPr>
          <p:cNvPr id="8" name="Text 6"/>
          <p:cNvSpPr/>
          <p:nvPr/>
        </p:nvSpPr>
        <p:spPr>
          <a:xfrm>
            <a:off x="6508750" y="2393851"/>
            <a:ext cx="4696079" cy="330200"/>
          </a:xfrm>
          <a:prstGeom prst="rect">
            <a:avLst/>
          </a:prstGeom>
          <a:noFill/>
          <a:ln/>
        </p:spPr>
        <p:txBody>
          <a:bodyPr wrap="square" lIns="0" tIns="0" rIns="0" bIns="0" rtlCol="0" anchor="t"/>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Checklist</a:t>
            </a:r>
            <a:endParaRPr lang="en-US" sz="2000" dirty="0"/>
          </a:p>
        </p:txBody>
      </p:sp>
      <p:sp>
        <p:nvSpPr>
          <p:cNvPr id="9" name="Text 7"/>
          <p:cNvSpPr/>
          <p:nvPr/>
        </p:nvSpPr>
        <p:spPr>
          <a:xfrm>
            <a:off x="6579870" y="2825651"/>
            <a:ext cx="4617339" cy="1958975"/>
          </a:xfrm>
          <a:prstGeom prst="rect">
            <a:avLst/>
          </a:prstGeom>
          <a:noFill/>
          <a:ln/>
        </p:spPr>
        <p:txBody>
          <a:bodyPr wrap="square" lIns="0" tIns="0" rIns="0" bIns="0" rtlCol="0" anchor="t"/>
          <a:lstStyle/>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Where are the vectors written and read?</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Is the product's score a vector score?</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What dominates: items, model calls, round trips?</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Is search exact on small filtered sets?</a:t>
            </a:r>
            <a:endParaRPr lang="en-US" sz="1500" dirty="0"/>
          </a:p>
          <a:p>
            <a:pPr algn="l" marL="182880" indent="-182880">
              <a:lnSpc>
                <a:spcPts val="2175"/>
              </a:lnSpc>
              <a:buSzPct val="100000"/>
              <a:buChar char="•"/>
            </a:pPr>
            <a:r>
              <a:rPr lang="en-US" sz="1500" dirty="0">
                <a:solidFill>
                  <a:srgbClr val="3A4556"/>
                </a:solidFill>
                <a:latin typeface="IBM Plex Sans" pitchFamily="34" charset="0"/>
                <a:ea typeface="IBM Plex Sans" pitchFamily="34" charset="-122"/>
                <a:cs typeface="IBM Plex Sans" pitchFamily="34" charset="-120"/>
              </a:rPr>
              <a:t>Validate every instrument against a known answer.</a:t>
            </a:r>
            <a:endParaRPr lang="en-US" sz="1500" dirty="0"/>
          </a:p>
        </p:txBody>
      </p:sp>
      <p:sp>
        <p:nvSpPr>
          <p:cNvPr id="10" name="Text 8"/>
          <p:cNvSpPr/>
          <p:nvPr/>
        </p:nvSpPr>
        <p:spPr>
          <a:xfrm>
            <a:off x="812800" y="6238280"/>
            <a:ext cx="10883392" cy="238720"/>
          </a:xfrm>
          <a:prstGeom prst="rect">
            <a:avLst/>
          </a:prstGeom>
          <a:noFill/>
          <a:ln/>
        </p:spPr>
        <p:txBody>
          <a:bodyPr wrap="square" lIns="0" tIns="0" rIns="0" bIns="0" rtlCol="0" anchor="t"/>
          <a:lstStyle/>
          <a:p>
            <a:pPr algn="l" indent="0" marL="0">
              <a:lnSpc>
                <a:spcPts val="1680"/>
              </a:lnSpc>
              <a:buNone/>
            </a:pPr>
            <a:r>
              <a:rPr lang="en-US" sz="1200" dirty="0">
                <a:solidFill>
                  <a:srgbClr val="5F6979"/>
                </a:solidFill>
                <a:latin typeface="IBM Plex Sans" pitchFamily="34" charset="0"/>
                <a:ea typeface="IBM Plex Sans" pitchFamily="34" charset="-122"/>
                <a:cs typeface="IBM Plex Sans" pitchFamily="34" charset="-120"/>
              </a:rPr>
              <a:t>Full tables and limits: docs/guide case study chapter (EN / ES) and technical guide §8.</a:t>
            </a:r>
            <a:endParaRPr lang="en-US" sz="1200" dirty="0"/>
          </a:p>
        </p:txBody>
      </p:sp>
    </p:spTree>
  </p:cSld>
  <p:clrMapOvr>
    <a:masterClrMapping/>
  </p:clrMapOvr>
</p:sld>
</file>

<file path=ppt/theme/theme1.xml><?xml version="1.0" encoding="utf-8"?>
<a:theme xmlns:a="http://schemas.openxmlformats.org/drawingml/2006/main" name="TurboQuant">
  <a:themeElements>
    <a:clrScheme name="TurboQuant">
      <a:dk1>
        <a:srgbClr val="0F1B2D"/>
      </a:dk1>
      <a:lt1>
        <a:srgbClr val="F6F5F0"/>
      </a:lt1>
      <a:dk2>
        <a:srgbClr val="49525E"/>
      </a:dk2>
      <a:lt2>
        <a:srgbClr val="DFDFDD"/>
      </a:lt2>
      <a:accent1>
        <a:srgbClr val="B4521A"/>
      </a:accent1>
      <a:accent2>
        <a:srgbClr val="F2A35E"/>
      </a:accent2>
      <a:accent3>
        <a:srgbClr val="1E2F48"/>
      </a:accent3>
      <a:accent4>
        <a:srgbClr val="2F6DB5"/>
      </a:accent4>
      <a:accent5>
        <a:srgbClr val="3A4556"/>
      </a:accent5>
      <a:accent6>
        <a:srgbClr val="5F6979"/>
      </a:accent6>
      <a:hlink>
        <a:srgbClr val="0563C1"/>
      </a:hlink>
      <a:folHlink>
        <a:srgbClr val="954F72"/>
      </a:folHlink>
    </a:clrScheme>
    <a:fontScheme name="TurboQuant">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TurboQuant</dc:title>
  <dc:subject/>
  <dc:creator/>
  <cp:lastModifiedBy/>
  <cp:revision>1</cp:revision>
  <dcterms:created xsi:type="dcterms:W3CDTF">2026-10-05T12:29:32Z</dcterms:created>
  <dcterms:modified xsi:type="dcterms:W3CDTF">2026-10-05T12:29:32Z</dcterms:modified>
</cp:coreProperties>
</file>